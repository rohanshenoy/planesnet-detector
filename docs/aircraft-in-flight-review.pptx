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4.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8d81a9c-d6a1-21ec-199c-90e8307eac47}">
          <p14:sldIdLst>
            <p14:sldId id="256"/>
            <p14:sldId id="257"/>
            <p14:sldId id="258"/>
          </p14:sldIdLst>
        </p14:section>
        <p14:section name="The problem" id="{067b00d6-0613-9ec1-e740-fb5e03fb2515}">
          <p14:sldIdLst>
            <p14:sldId id="259"/>
            <p14:sldId id="260"/>
            <p14:sldId id="261"/>
          </p14:sldIdLst>
        </p14:section>
        <p14:section name="Data" id="{f07f9254-4716-83f3-4fb5-d3d73b73d8e7}">
          <p14:sldIdLst>
            <p14:sldId id="262"/>
            <p14:sldId id="263"/>
            <p14:sldId id="264"/>
            <p14:sldId id="265"/>
            <p14:sldId id="266"/>
            <p14:sldId id="267"/>
            <p14:sldId id="268"/>
          </p14:sldIdLst>
        </p14:section>
        <p14:section name="Models" id="{43d67e92-bae6-99b6-1b40-76d453a2500f}">
          <p14:sldIdLst>
            <p14:sldId id="269"/>
            <p14:sldId id="270"/>
            <p14:sldId id="271"/>
          </p14:sldIdLst>
        </p14:section>
        <p14:section name="Training" id="{b352db35-d154-dcc0-1ea2-c15743944797}">
          <p14:sldIdLst>
            <p14:sldId id="272"/>
            <p14:sldId id="273"/>
            <p14:sldId id="274"/>
          </p14:sldIdLst>
        </p14:section>
        <p14:section name="Sky results" id="{a598e464-4ae4-a50f-ad1e-1f00f3f0a9e9}">
          <p14:sldIdLst>
            <p14:sldId id="275"/>
            <p14:sldId id="276"/>
            <p14:sldId id="277"/>
            <p14:sldId id="278"/>
            <p14:sldId id="279"/>
            <p14:sldId id="280"/>
            <p14:sldId id="281"/>
            <p14:sldId id="282"/>
          </p14:sldIdLst>
        </p14:section>
        <p14:section name="Satellite results" id="{03bf9073-1ede-16ea-0f5c-d0b17099ed81}">
          <p14:sldIdLst>
            <p14:sldId id="283"/>
            <p14:sldId id="284"/>
            <p14:sldId id="285"/>
            <p14:sldId id="286"/>
            <p14:sldId id="287"/>
            <p14:sldId id="288"/>
            <p14:sldId id="289"/>
            <p14:sldId id="290"/>
          </p14:sldIdLst>
        </p14:section>
        <p14:section name="Repository and next steps" id="{9e6e8dac-1747-2b47-df50-4f8ea420c48b}">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Training crops</a:t>
            </a:r>
          </a:p>
        </c:rich>
      </c:tx>
      <c:layout/>
      <c:overlay val="0"/>
    </c:title>
    <c:autoTitleDeleted val="0"/>
    <c:plotArea>
      <c:layout/>
      <c:barChart>
        <c:barDir val="bar"/>
        <c:grouping val="stacked"/>
        <c:varyColors val="0"/>
        <c:ser>
          <c:idx val="0"/>
          <c:order val="0"/>
          <c:tx>
            <c:strRef>
              <c:f>Sheet1!$B$1</c:f>
              <c:strCache>
                <c:ptCount val="1"/>
                <c:pt idx="0">
                  <c:v>Part 1 crops</c:v>
                </c:pt>
              </c:strCache>
            </c:strRef>
          </c:tx>
          <c:spPr>
            <a:solidFill>
              <a:srgbClr val="2A78D6"/>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12-epoch models</c:v>
                  </c:pt>
                  <c:pt idx="1">
                    <c:v>50-epoch model</c:v>
                  </c:pt>
                </c:lvl>
              </c:multiLvlStrCache>
            </c:multiLvlStrRef>
          </c:cat>
          <c:val>
            <c:numRef>
              <c:f>Sheet1!$B$2:$B$3</c:f>
              <c:numCache>
                <c:formatCode>General</c:formatCode>
                <c:ptCount val="2"/>
                <c:pt idx="0">
                  <c:v>1548</c:v>
                </c:pt>
                <c:pt idx="1">
                  <c:v>5874</c:v>
                </c:pt>
              </c:numCache>
            </c:numRef>
          </c:val>
        </c:ser>
        <c:ser>
          <c:idx val="1"/>
          <c:order val="1"/>
          <c:tx>
            <c:strRef>
              <c:f>Sheet1!$C$1</c:f>
              <c:strCache>
                <c:ptCount val="1"/>
                <c:pt idx="0">
                  <c:v>Part 3 crops</c:v>
                </c:pt>
              </c:strCache>
            </c:strRef>
          </c:tx>
          <c:spPr>
            <a:solidFill>
              <a:srgbClr val="1BAF7A"/>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12-epoch models</c:v>
                  </c:pt>
                  <c:pt idx="1">
                    <c:v>50-epoch model</c:v>
                  </c:pt>
                </c:lvl>
              </c:multiLvlStrCache>
            </c:multiLvlStrRef>
          </c:cat>
          <c:val>
            <c:numRef>
              <c:f>Sheet1!$C$2:$C$3</c:f>
              <c:numCache>
                <c:formatCode>General</c:formatCode>
                <c:ptCount val="2"/>
                <c:pt idx="0">
                  <c:v>0</c:v>
                </c:pt>
                <c:pt idx="1">
                  <c:v>4177</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000"/>
        </c:scaling>
        <c:delete val="0"/>
        <c:axPos val="b"/>
        <c:majorGridlines>
          <c:spPr>
            <a:ln w="9525" cap="flat">
              <a:solidFill>
                <a:srgbClr val="E3E2DE"/>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Validation mAP50 (all classes)</a:t>
            </a:r>
          </a:p>
        </c:rich>
      </c:tx>
      <c:layout/>
      <c:overlay val="0"/>
    </c:title>
    <c:autoTitleDeleted val="0"/>
    <c:plotArea>
      <c:layout/>
      <c:lineChart>
        <c:varyColors val="0"/>
        <c:ser>
          <c:idx val="0"/>
          <c:order val="0"/>
          <c:tx>
            <c:strRef>
              <c:f>Sheet1!$B$1</c:f>
              <c:strCache>
                <c:ptCount val="1"/>
                <c:pt idx="0">
                  <c:v>Validation mAP50</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0.1184</c:v>
                </c:pt>
                <c:pt idx="1">
                  <c:v>0.097</c:v>
                </c:pt>
                <c:pt idx="2">
                  <c:v>0.1126</c:v>
                </c:pt>
                <c:pt idx="3">
                  <c:v>0.1371</c:v>
                </c:pt>
                <c:pt idx="4">
                  <c:v>0.1418</c:v>
                </c:pt>
                <c:pt idx="5">
                  <c:v>0.1693</c:v>
                </c:pt>
                <c:pt idx="6">
                  <c:v>0.1868</c:v>
                </c:pt>
                <c:pt idx="7">
                  <c:v>0.1686</c:v>
                </c:pt>
                <c:pt idx="8">
                  <c:v>0.1945</c:v>
                </c:pt>
                <c:pt idx="9">
                  <c:v>0.2193</c:v>
                </c:pt>
                <c:pt idx="10">
                  <c:v>0.205</c:v>
                </c:pt>
                <c:pt idx="11">
                  <c:v>0.2076</c:v>
                </c:pt>
                <c:pt idx="12">
                  <c:v>0.198</c:v>
                </c:pt>
                <c:pt idx="13">
                  <c:v>0.1934</c:v>
                </c:pt>
                <c:pt idx="14">
                  <c:v>0.2104</c:v>
                </c:pt>
                <c:pt idx="15">
                  <c:v>0.1871</c:v>
                </c:pt>
                <c:pt idx="16">
                  <c:v>0.2241</c:v>
                </c:pt>
                <c:pt idx="17">
                  <c:v>0.2244</c:v>
                </c:pt>
                <c:pt idx="18">
                  <c:v>0.2184</c:v>
                </c:pt>
                <c:pt idx="19">
                  <c:v>0.2407</c:v>
                </c:pt>
                <c:pt idx="20">
                  <c:v>0.1563</c:v>
                </c:pt>
                <c:pt idx="21">
                  <c:v>0.1957</c:v>
                </c:pt>
                <c:pt idx="22">
                  <c:v>0.2399</c:v>
                </c:pt>
                <c:pt idx="23">
                  <c:v>0.2025</c:v>
                </c:pt>
                <c:pt idx="24">
                  <c:v>0.2434</c:v>
                </c:pt>
                <c:pt idx="25">
                  <c:v>0.2332</c:v>
                </c:pt>
                <c:pt idx="26">
                  <c:v>0.2401</c:v>
                </c:pt>
                <c:pt idx="27">
                  <c:v>0.1791</c:v>
                </c:pt>
                <c:pt idx="28">
                  <c:v>0.229</c:v>
                </c:pt>
                <c:pt idx="29">
                  <c:v>0.2395</c:v>
                </c:pt>
                <c:pt idx="30">
                  <c:v>0.2063</c:v>
                </c:pt>
                <c:pt idx="31">
                  <c:v>0.2242</c:v>
                </c:pt>
                <c:pt idx="32">
                  <c:v>0.2443</c:v>
                </c:pt>
                <c:pt idx="33">
                  <c:v>0.2208</c:v>
                </c:pt>
                <c:pt idx="34">
                  <c:v>0.2585</c:v>
                </c:pt>
                <c:pt idx="35">
                  <c:v>0.244</c:v>
                </c:pt>
                <c:pt idx="36">
                  <c:v>0.1914</c:v>
                </c:pt>
                <c:pt idx="37">
                  <c:v>0.2134</c:v>
                </c:pt>
                <c:pt idx="38">
                  <c:v>0.1857</c:v>
                </c:pt>
                <c:pt idx="39">
                  <c:v>0.2804</c:v>
                </c:pt>
                <c:pt idx="40">
                  <c:v>0.2625</c:v>
                </c:pt>
                <c:pt idx="41">
                  <c:v>0.2791</c:v>
                </c:pt>
                <c:pt idx="42">
                  <c:v>0.2855</c:v>
                </c:pt>
                <c:pt idx="43">
                  <c:v>0.2955</c:v>
                </c:pt>
                <c:pt idx="44">
                  <c:v>0.3091</c:v>
                </c:pt>
                <c:pt idx="45">
                  <c:v>0.2922</c:v>
                </c:pt>
                <c:pt idx="46">
                  <c:v>0.2674</c:v>
                </c:pt>
                <c:pt idx="47">
                  <c:v>0.2636</c:v>
                </c:pt>
                <c:pt idx="48">
                  <c:v>0.262</c:v>
                </c:pt>
                <c:pt idx="49">
                  <c:v>0.2591</c:v>
                </c:pt>
              </c:numCache>
            </c:numRef>
          </c:val>
          <c:smooth val="0"/>
        </c:ser>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Epoch</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5"/>
      </c:catAx>
      <c:valAx>
        <c:axId val="2094734552"/>
        <c:scaling>
          <c:orientation val="minMax"/>
          <c:max val="0.35"/>
          <c:min val="0"/>
        </c:scaling>
        <c:delete val="0"/>
        <c:axPos val="l"/>
        <c:majorGridlines>
          <c:spPr>
            <a:ln w="9525" cap="flat">
              <a:solidFill>
                <a:srgbClr val="E3E2DE"/>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Box loss</a:t>
            </a:r>
          </a:p>
        </c:rich>
      </c:tx>
      <c:layout/>
      <c:overlay val="0"/>
    </c:title>
    <c:autoTitleDeleted val="0"/>
    <c:plotArea>
      <c:layout/>
      <c:lineChart>
        <c:varyColors val="0"/>
        <c:ser>
          <c:idx val="0"/>
          <c:order val="0"/>
          <c:tx>
            <c:strRef>
              <c:f>Sheet1!$B$1</c:f>
              <c:strCache>
                <c:ptCount val="1"/>
                <c:pt idx="0">
                  <c:v>Training</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2.3689</c:v>
                </c:pt>
                <c:pt idx="1">
                  <c:v>2.2115</c:v>
                </c:pt>
                <c:pt idx="2">
                  <c:v>2.2076</c:v>
                </c:pt>
                <c:pt idx="3">
                  <c:v>2.0782</c:v>
                </c:pt>
                <c:pt idx="4">
                  <c:v>2.0575</c:v>
                </c:pt>
                <c:pt idx="5">
                  <c:v>1.9834</c:v>
                </c:pt>
                <c:pt idx="6">
                  <c:v>1.9382</c:v>
                </c:pt>
                <c:pt idx="7">
                  <c:v>1.902</c:v>
                </c:pt>
                <c:pt idx="8">
                  <c:v>1.8475</c:v>
                </c:pt>
                <c:pt idx="9">
                  <c:v>1.7907</c:v>
                </c:pt>
                <c:pt idx="10">
                  <c:v>1.7719</c:v>
                </c:pt>
                <c:pt idx="11">
                  <c:v>1.7684</c:v>
                </c:pt>
                <c:pt idx="12">
                  <c:v>1.7202</c:v>
                </c:pt>
                <c:pt idx="13">
                  <c:v>1.6895</c:v>
                </c:pt>
                <c:pt idx="14">
                  <c:v>1.6584</c:v>
                </c:pt>
                <c:pt idx="15">
                  <c:v>1.6541</c:v>
                </c:pt>
                <c:pt idx="16">
                  <c:v>1.6517</c:v>
                </c:pt>
                <c:pt idx="17">
                  <c:v>1.6262</c:v>
                </c:pt>
                <c:pt idx="18">
                  <c:v>1.6012</c:v>
                </c:pt>
                <c:pt idx="19">
                  <c:v>1.5864</c:v>
                </c:pt>
                <c:pt idx="20">
                  <c:v>1.6111</c:v>
                </c:pt>
                <c:pt idx="21">
                  <c:v>1.5748</c:v>
                </c:pt>
                <c:pt idx="22">
                  <c:v>1.5501</c:v>
                </c:pt>
                <c:pt idx="23">
                  <c:v>1.5597</c:v>
                </c:pt>
                <c:pt idx="24">
                  <c:v>1.5427</c:v>
                </c:pt>
                <c:pt idx="25">
                  <c:v>1.5364</c:v>
                </c:pt>
                <c:pt idx="26">
                  <c:v>1.5251</c:v>
                </c:pt>
                <c:pt idx="27">
                  <c:v>1.5186</c:v>
                </c:pt>
                <c:pt idx="28">
                  <c:v>1.5086</c:v>
                </c:pt>
                <c:pt idx="29">
                  <c:v>1.5055</c:v>
                </c:pt>
                <c:pt idx="30">
                  <c:v>1.4905</c:v>
                </c:pt>
                <c:pt idx="31">
                  <c:v>1.4889</c:v>
                </c:pt>
                <c:pt idx="32">
                  <c:v>1.4706</c:v>
                </c:pt>
                <c:pt idx="33">
                  <c:v>1.4459</c:v>
                </c:pt>
                <c:pt idx="34">
                  <c:v>1.4319</c:v>
                </c:pt>
                <c:pt idx="35">
                  <c:v>1.4186</c:v>
                </c:pt>
                <c:pt idx="36">
                  <c:v>1.3895</c:v>
                </c:pt>
                <c:pt idx="37">
                  <c:v>1.4043</c:v>
                </c:pt>
                <c:pt idx="38">
                  <c:v>1.4077</c:v>
                </c:pt>
                <c:pt idx="39">
                  <c:v>1.3996</c:v>
                </c:pt>
                <c:pt idx="40">
                  <c:v>1.3505</c:v>
                </c:pt>
                <c:pt idx="41">
                  <c:v>1.341</c:v>
                </c:pt>
                <c:pt idx="42">
                  <c:v>1.3339</c:v>
                </c:pt>
                <c:pt idx="43">
                  <c:v>1.3112</c:v>
                </c:pt>
                <c:pt idx="44">
                  <c:v>1.3148</c:v>
                </c:pt>
                <c:pt idx="45">
                  <c:v>1.298</c:v>
                </c:pt>
                <c:pt idx="46">
                  <c:v>1.3058</c:v>
                </c:pt>
                <c:pt idx="47">
                  <c:v>1.2767</c:v>
                </c:pt>
                <c:pt idx="48">
                  <c:v>1.2692</c:v>
                </c:pt>
                <c:pt idx="49">
                  <c:v>1.2751</c:v>
                </c:pt>
              </c:numCache>
            </c:numRef>
          </c:val>
          <c:smooth val="0"/>
        </c:ser>
        <c:ser>
          <c:idx val="1"/>
          <c:order val="1"/>
          <c:tx>
            <c:strRef>
              <c:f>Sheet1!$C$1</c:f>
              <c:strCache>
                <c:ptCount val="1"/>
                <c:pt idx="0">
                  <c:v>Validation</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2.2801</c:v>
                </c:pt>
                <c:pt idx="1">
                  <c:v>2.1904</c:v>
                </c:pt>
                <c:pt idx="2">
                  <c:v>2.1324</c:v>
                </c:pt>
                <c:pt idx="3">
                  <c:v>2.0663</c:v>
                </c:pt>
                <c:pt idx="4">
                  <c:v>2.1186</c:v>
                </c:pt>
                <c:pt idx="5">
                  <c:v>2.1031</c:v>
                </c:pt>
                <c:pt idx="6">
                  <c:v>2.0238</c:v>
                </c:pt>
                <c:pt idx="7">
                  <c:v>2.255</c:v>
                </c:pt>
                <c:pt idx="8">
                  <c:v>2.0239</c:v>
                </c:pt>
                <c:pt idx="9">
                  <c:v>2.1929</c:v>
                </c:pt>
                <c:pt idx="10">
                  <c:v>2.1891</c:v>
                </c:pt>
                <c:pt idx="11">
                  <c:v>2.249</c:v>
                </c:pt>
                <c:pt idx="12">
                  <c:v>2.3087</c:v>
                </c:pt>
                <c:pt idx="13">
                  <c:v>2.3888</c:v>
                </c:pt>
                <c:pt idx="14">
                  <c:v>2.192</c:v>
                </c:pt>
                <c:pt idx="15">
                  <c:v>2.4981</c:v>
                </c:pt>
                <c:pt idx="16">
                  <c:v>2.2495</c:v>
                </c:pt>
                <c:pt idx="17">
                  <c:v>2.4591</c:v>
                </c:pt>
                <c:pt idx="18">
                  <c:v>2.4789</c:v>
                </c:pt>
                <c:pt idx="19">
                  <c:v>2.307</c:v>
                </c:pt>
                <c:pt idx="20">
                  <c:v>2.688</c:v>
                </c:pt>
                <c:pt idx="21">
                  <c:v>2.6458</c:v>
                </c:pt>
                <c:pt idx="22">
                  <c:v>2.246</c:v>
                </c:pt>
                <c:pt idx="23">
                  <c:v>2.5697</c:v>
                </c:pt>
                <c:pt idx="24">
                  <c:v>2.2457</c:v>
                </c:pt>
                <c:pt idx="25">
                  <c:v>2.2828</c:v>
                </c:pt>
                <c:pt idx="26">
                  <c:v>2.4171</c:v>
                </c:pt>
                <c:pt idx="27">
                  <c:v>2.6191</c:v>
                </c:pt>
                <c:pt idx="28">
                  <c:v>2.4128</c:v>
                </c:pt>
                <c:pt idx="29">
                  <c:v>2.48</c:v>
                </c:pt>
                <c:pt idx="30">
                  <c:v>2.4983</c:v>
                </c:pt>
                <c:pt idx="31">
                  <c:v>2.4882</c:v>
                </c:pt>
                <c:pt idx="32">
                  <c:v>2.4909</c:v>
                </c:pt>
                <c:pt idx="33">
                  <c:v>2.4367</c:v>
                </c:pt>
                <c:pt idx="34">
                  <c:v>2.4051</c:v>
                </c:pt>
                <c:pt idx="35">
                  <c:v>2.3668</c:v>
                </c:pt>
                <c:pt idx="36">
                  <c:v>2.5328</c:v>
                </c:pt>
                <c:pt idx="37">
                  <c:v>2.4625</c:v>
                </c:pt>
                <c:pt idx="38">
                  <c:v>2.5059</c:v>
                </c:pt>
                <c:pt idx="39">
                  <c:v>2.3251</c:v>
                </c:pt>
                <c:pt idx="40">
                  <c:v>2.1118</c:v>
                </c:pt>
                <c:pt idx="41">
                  <c:v>1.844</c:v>
                </c:pt>
                <c:pt idx="42">
                  <c:v>1.82</c:v>
                </c:pt>
                <c:pt idx="43">
                  <c:v>1.7148</c:v>
                </c:pt>
                <c:pt idx="44">
                  <c:v>1.6605</c:v>
                </c:pt>
                <c:pt idx="45">
                  <c:v>1.6451</c:v>
                </c:pt>
                <c:pt idx="46">
                  <c:v>1.6794</c:v>
                </c:pt>
                <c:pt idx="47">
                  <c:v>1.7122</c:v>
                </c:pt>
                <c:pt idx="48">
                  <c:v>1.7313</c:v>
                </c:pt>
                <c:pt idx="49">
                  <c:v>1.7238</c:v>
                </c:pt>
              </c:numCache>
            </c:numRef>
          </c:val>
          <c:smooth val="0"/>
        </c:ser>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Epoch</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5"/>
      </c:catAx>
      <c:valAx>
        <c:axId val="2094734552"/>
        <c:scaling>
          <c:orientation val="minMax"/>
          <c:min val="1"/>
        </c:scaling>
        <c:delete val="0"/>
        <c:axPos val="l"/>
        <c:majorGridlines>
          <c:spPr>
            <a:ln w="9525" cap="flat">
              <a:solidFill>
                <a:srgbClr val="E3E2DE"/>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Average precision</a:t>
            </a:r>
          </a:p>
        </c:rich>
      </c:tx>
      <c:layout/>
      <c:overlay val="0"/>
    </c:title>
    <c:autoTitleDeleted val="0"/>
    <c:plotArea>
      <c:layout/>
      <c:barChart>
        <c:barDir val="col"/>
        <c:grouping val="clustered"/>
        <c:varyColors val="0"/>
        <c:ser>
          <c:idx val="0"/>
          <c:order val="0"/>
          <c:tx>
            <c:strRef>
              <c:f>Sheet1!$B$1</c:f>
              <c:strCache>
                <c:ptCount val="1"/>
                <c:pt idx="0">
                  <c:v>Validation (260 aircraft, part 1)</c:v>
                </c:pt>
              </c:strCache>
            </c:strRef>
          </c:tx>
          <c:spPr>
            <a:solidFill>
              <a:srgbClr val="86B6EF"/>
            </a:solidFill>
            <a:effectLst/>
          </c:spPr>
          <c:invertIfNegative val="0"/>
          <c:dLbls>
            <c:numFmt formatCode="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Sheet1!$A$2:$A$6</c:f>
              <c:multiLvlStrCache>
                <c:ptCount val="5"/>
                <c:lvl>
                  <c:pt idx="0">
                    <c:v>COCO yolo11n</c:v>
                  </c:pt>
                  <c:pt idx="1">
                    <c:v>n, 1 frame</c:v>
                  </c:pt>
                  <c:pt idx="2">
                    <c:v>n, 3 frames</c:v>
                  </c:pt>
                  <c:pt idx="3">
                    <c:v>s, 12 epochs</c:v>
                  </c:pt>
                  <c:pt idx="4">
                    <c:v>n-p2, 3 frames</c:v>
                  </c:pt>
                </c:lvl>
              </c:multiLvlStrCache>
            </c:multiLvlStrRef>
          </c:cat>
          <c:val>
            <c:numRef>
              <c:f>Sheet1!$B$2:$B$6</c:f>
              <c:numCache>
                <c:formatCode>General</c:formatCode>
                <c:ptCount val="5"/>
                <c:pt idx="0">
                  <c:v>0.11</c:v>
                </c:pt>
                <c:pt idx="1">
                  <c:v>0.55</c:v>
                </c:pt>
                <c:pt idx="2">
                  <c:v>0.58</c:v>
                </c:pt>
                <c:pt idx="3">
                  <c:v>0.63</c:v>
                </c:pt>
                <c:pt idx="4">
                  <c:v>0.41</c:v>
                </c:pt>
              </c:numCache>
            </c:numRef>
          </c:val>
        </c:ser>
        <c:ser>
          <c:idx val="1"/>
          <c:order val="1"/>
          <c:tx>
            <c:strRef>
              <c:f>Sheet1!$C$1</c:f>
              <c:strCache>
                <c:ptCount val="1"/>
                <c:pt idx="0">
                  <c:v>Test (1,708 aircraft, part 2)</c:v>
                </c:pt>
              </c:strCache>
            </c:strRef>
          </c:tx>
          <c:spPr>
            <a:solidFill>
              <a:srgbClr val="2A78D6"/>
            </a:solidFill>
            <a:effectLst/>
          </c:spPr>
          <c:invertIfNegative val="0"/>
          <c:dLbls>
            <c:numFmt formatCode="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Sheet1!$A$2:$A$6</c:f>
              <c:multiLvlStrCache>
                <c:ptCount val="5"/>
                <c:lvl>
                  <c:pt idx="0">
                    <c:v>COCO yolo11n</c:v>
                  </c:pt>
                  <c:pt idx="1">
                    <c:v>n, 1 frame</c:v>
                  </c:pt>
                  <c:pt idx="2">
                    <c:v>n, 3 frames</c:v>
                  </c:pt>
                  <c:pt idx="3">
                    <c:v>s, 12 epochs</c:v>
                  </c:pt>
                  <c:pt idx="4">
                    <c:v>n-p2, 3 frames</c:v>
                  </c:pt>
                </c:lvl>
              </c:multiLvlStrCache>
            </c:multiLvlStrRef>
          </c:cat>
          <c:val>
            <c:numRef>
              <c:f>Sheet1!$C$2:$C$6</c:f>
              <c:numCache>
                <c:formatCode>General</c:formatCode>
                <c:ptCount val="5"/>
                <c:pt idx="0">
                  <c:v>0.12</c:v>
                </c:pt>
                <c:pt idx="1">
                  <c:v>0.56</c:v>
                </c:pt>
                <c:pt idx="2">
                  <c:v>0.58</c:v>
                </c:pt>
                <c:pt idx="3">
                  <c:v>0.64</c:v>
                </c:pt>
                <c:pt idx="4">
                  <c:v>0.42</c:v>
                </c:pt>
              </c:numCache>
            </c:numRef>
          </c:val>
        </c:ser>
        <c:dLbls>
          <c:numFmt formatCode="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2DE"/>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precision</c:v>
                </c:pt>
              </c:strCache>
            </c:strRef>
          </c:tx>
          <c:spPr>
            <a:solidFill>
              <a:srgbClr val="9C9A92"/>
            </a:solidFill>
            <a:effectLst/>
          </c:spPr>
          <c:invertIfNegative val="0"/>
          <c:dLbls>
            <c:numFmt formatCode="0.00" sourceLinked="0"/>
            <c:txPr>
              <a:bodyPr/>
              <a:lstStyle/>
              <a:p>
                <a:pPr>
                  <a:defRPr b="0" i="0" strike="noStrike" sz="1300" u="none">
                    <a:solidFill>
                      <a:srgbClr val="1F2A3D"/>
                    </a:solidFill>
                    <a:latin typeface="+mn-lt"/>
                  </a:defRPr>
                </a:pPr>
              </a:p>
            </c:txPr>
            <c:showLegendKey val="0"/>
            <c:showVal val="1"/>
            <c:showCatName val="0"/>
            <c:showSerName val="0"/>
            <c:showPercent val="0"/>
            <c:showBubbleSize val="0"/>
            <c:showLeaderLines val="0"/>
          </c:dLbls>
          <c:dPt>
            <c:idx val="0"/>
            <c:invertIfNegative val="0"/>
            <c:bubble3D val="0"/>
            <c:spPr>
              <a:solidFill>
                <a:srgbClr val="9C9A92"/>
              </a:solidFill>
              <a:effectLst/>
            </c:spPr>
          </c:dPt>
          <c:dPt>
            <c:idx val="1"/>
            <c:invertIfNegative val="0"/>
            <c:bubble3D val="0"/>
            <c:spPr>
              <a:solidFill>
                <a:srgbClr val="E87BA4"/>
              </a:solidFill>
              <a:effectLst/>
            </c:spPr>
          </c:dPt>
          <c:dPt>
            <c:idx val="2"/>
            <c:invertIfNegative val="0"/>
            <c:bubble3D val="0"/>
            <c:spPr>
              <a:solidFill>
                <a:srgbClr val="EDA100"/>
              </a:solidFill>
              <a:effectLst/>
            </c:spPr>
          </c:dPt>
          <c:dPt>
            <c:idx val="3"/>
            <c:invertIfNegative val="0"/>
            <c:bubble3D val="0"/>
            <c:spPr>
              <a:solidFill>
                <a:srgbClr val="1BAF7A"/>
              </a:solidFill>
              <a:effectLst/>
            </c:spPr>
          </c:dPt>
          <c:dPt>
            <c:idx val="4"/>
            <c:invertIfNegative val="0"/>
            <c:bubble3D val="0"/>
            <c:spPr>
              <a:solidFill>
                <a:srgbClr val="2A78D6"/>
              </a:solidFill>
              <a:effectLst/>
            </c:spPr>
          </c:dPt>
          <c:dPt>
            <c:idx val="5"/>
            <c:invertIfNegative val="0"/>
            <c:bubble3D val="0"/>
            <c:spPr>
              <a:solidFill>
                <a:srgbClr val="EB6834"/>
              </a:solidFill>
              <a:effectLst/>
            </c:spPr>
          </c:dPt>
          <c:cat>
            <c:multiLvlStrRef>
              <c:f>Sheet1!$A$2:$A$7</c:f>
              <c:multiLvlStrCache>
                <c:ptCount val="6"/>
                <c:lvl>
                  <c:pt idx="0">
                    <c:v>COCO yolo11n (no training)</c:v>
                  </c:pt>
                  <c:pt idx="1">
                    <c:v>yolo11n-p2, 3 frames</c:v>
                  </c:pt>
                  <c:pt idx="2">
                    <c:v>yolo11n, 1 frame</c:v>
                  </c:pt>
                  <c:pt idx="3">
                    <c:v>yolo11n, 3 frames</c:v>
                  </c:pt>
                  <c:pt idx="4">
                    <c:v>yolo11s, 3 frames, 12 epochs</c:v>
                  </c:pt>
                  <c:pt idx="5">
                    <c:v>yolo11s, 3 frames, 50 epochs</c:v>
                  </c:pt>
                </c:lvl>
              </c:multiLvlStrCache>
            </c:multiLvlStrRef>
          </c:cat>
          <c:val>
            <c:numRef>
              <c:f>Sheet1!$B$2:$B$7</c:f>
              <c:numCache>
                <c:formatCode>General</c:formatCode>
                <c:ptCount val="6"/>
                <c:pt idx="0">
                  <c:v>0.12</c:v>
                </c:pt>
                <c:pt idx="1">
                  <c:v>0.42</c:v>
                </c:pt>
                <c:pt idx="2">
                  <c:v>0.56</c:v>
                </c:pt>
                <c:pt idx="3">
                  <c:v>0.58</c:v>
                </c:pt>
                <c:pt idx="4">
                  <c:v>0.64</c:v>
                </c:pt>
                <c:pt idx="5">
                  <c:v>0.8</c:v>
                </c:pt>
              </c:numCache>
            </c:numRef>
          </c:val>
        </c:ser>
        <c:dLbls>
          <c:numFmt formatCode="0.00" sourceLinked="0"/>
          <c:txPr>
            <a:bodyPr/>
            <a:lstStyle/>
            <a:p>
              <a:pPr>
                <a:defRPr b="0" i="0" strike="noStrike" sz="1300" u="none">
                  <a:solidFill>
                    <a:srgbClr val="1F2A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2DE"/>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COCO yolo11n (no training)</c:v>
                </c:pt>
              </c:strCache>
            </c:strRef>
          </c:tx>
          <c:spPr>
            <a:solidFill>
              <a:srgbClr val="9C9A92"/>
            </a:solidFill>
            <a:ln w="31750" cap="flat">
              <a:solidFill>
                <a:srgbClr val="9C9A92"/>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9C9A92"/>
              </a:solidFill>
              <a:ln w="9525" cap="flat">
                <a:solidFill>
                  <a:srgbClr val="9C9A92"/>
                </a:solidFill>
                <a:prstDash val="solid"/>
                <a:round/>
              </a:ln>
              <a:effectLst/>
            </c:spPr>
          </c:marker>
          <c:cat>
            <c:multiLvlStrRef>
              <c:f>Sheet1!$A$2:$A$92</c:f>
              <c:multiLvlStrCache>
                <c:ptCount val="9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lvl>
              </c:multiLvlStrCache>
            </c:multiLvlStrRef>
          </c:cat>
          <c:val>
            <c:numRef>
              <c:f>Sheet1!$B$2:$B$92</c:f>
              <c:numCache>
                <c:formatCode>General</c:formatCode>
                <c:ptCount val="91"/>
                <c:pt idx="0">
                  <c:v>1</c:v>
                </c:pt>
                <c:pt idx="1">
                  <c:v>1</c:v>
                </c:pt>
                <c:pt idx="2">
                  <c:v>1</c:v>
                </c:pt>
                <c:pt idx="3">
                  <c:v>1</c:v>
                </c:pt>
                <c:pt idx="4">
                  <c:v>0.9753086419753086</c:v>
                </c:pt>
                <c:pt idx="5">
                  <c:v>0.9603960396039604</c:v>
                </c:pt>
                <c:pt idx="6">
                  <c:v>0.9504132231404959</c:v>
                </c:pt>
                <c:pt idx="7">
                  <c:v>0.9090909090909091</c:v>
                </c:pt>
                <c:pt idx="8">
                  <c:v>0.8633540372670807</c:v>
                </c:pt>
                <c:pt idx="9">
                  <c:v>0.8020833333333334</c:v>
                </c:pt>
                <c:pt idx="10">
                  <c:v>0.7533039647577092</c:v>
                </c:pt>
                <c:pt idx="11">
                  <c:v>0.6811594202898551</c:v>
                </c:pt>
                <c:pt idx="12">
                  <c:v>0.5423280423280423</c:v>
                </c:pt>
                <c:pt idx="13">
                  <c:v>0.45979381443298967</c:v>
                </c:pt>
                <c:pt idx="14">
                  <c:v>0.3342618384401114</c:v>
                </c:pt>
                <c:pt idx="15">
                  <c:v>0.24245283018867925</c:v>
                </c:pt>
              </c:numCache>
            </c:numRef>
          </c:val>
          <c:smooth val="0"/>
        </c:ser>
        <c:ser>
          <c:idx val="1"/>
          <c:order val="1"/>
          <c:tx>
            <c:strRef>
              <c:f>Sheet1!$C$1</c:f>
              <c:strCache>
                <c:ptCount val="1"/>
                <c:pt idx="0">
                  <c:v>yolo11n, 1 frame</c:v>
                </c:pt>
              </c:strCache>
            </c:strRef>
          </c:tx>
          <c:spPr>
            <a:solidFill>
              <a:srgbClr val="EDA100"/>
            </a:solidFill>
            <a:ln w="31750" cap="flat">
              <a:solidFill>
                <a:srgbClr val="EDA100"/>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Sheet1!$A$2:$A$92</c:f>
              <c:multiLvlStrCache>
                <c:ptCount val="9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lvl>
              </c:multiLvlStrCache>
            </c:multiLvlStrRef>
          </c:cat>
          <c:val>
            <c:numRef>
              <c:f>Sheet1!$C$2:$C$92</c:f>
              <c:numCache>
                <c:formatCode>General</c:formatCode>
                <c:ptCount val="91"/>
                <c:pt idx="0">
                  <c:v>1</c:v>
                </c:pt>
                <c:pt idx="1">
                  <c:v>1</c:v>
                </c:pt>
                <c:pt idx="2">
                  <c:v>1</c:v>
                </c:pt>
                <c:pt idx="3">
                  <c:v>1</c:v>
                </c:pt>
                <c:pt idx="4">
                  <c:v>1</c:v>
                </c:pt>
                <c:pt idx="5">
                  <c:v>1</c:v>
                </c:pt>
                <c:pt idx="6">
                  <c:v>0.991869918699187</c:v>
                </c:pt>
                <c:pt idx="7">
                  <c:v>0.991869918699187</c:v>
                </c:pt>
                <c:pt idx="8">
                  <c:v>0.9735099337748344</c:v>
                </c:pt>
                <c:pt idx="9">
                  <c:v>0.9698795180722891</c:v>
                </c:pt>
                <c:pt idx="10">
                  <c:v>0.9619047619047619</c:v>
                </c:pt>
                <c:pt idx="11">
                  <c:v>0.9619047619047619</c:v>
                </c:pt>
                <c:pt idx="12">
                  <c:v>0.9583333333333334</c:v>
                </c:pt>
                <c:pt idx="13">
                  <c:v>0.9411764705882353</c:v>
                </c:pt>
                <c:pt idx="14">
                  <c:v>0.9411764705882353</c:v>
                </c:pt>
                <c:pt idx="15">
                  <c:v>0.9379562043795621</c:v>
                </c:pt>
                <c:pt idx="16">
                  <c:v>0.920265780730897</c:v>
                </c:pt>
                <c:pt idx="17">
                  <c:v>0.9127725856697819</c:v>
                </c:pt>
                <c:pt idx="18">
                  <c:v>0.9035087719298246</c:v>
                </c:pt>
                <c:pt idx="19">
                  <c:v>0.8931506849315068</c:v>
                </c:pt>
                <c:pt idx="20">
                  <c:v>0.8894601542416453</c:v>
                </c:pt>
                <c:pt idx="21">
                  <c:v>0.8736616702355461</c:v>
                </c:pt>
                <c:pt idx="22">
                  <c:v>0.8736616702355461</c:v>
                </c:pt>
                <c:pt idx="23">
                  <c:v>0.8736616702355461</c:v>
                </c:pt>
                <c:pt idx="24">
                  <c:v>0.8728813559322034</c:v>
                </c:pt>
                <c:pt idx="25">
                  <c:v>0.8585461689587426</c:v>
                </c:pt>
                <c:pt idx="26">
                  <c:v>0.8582375478927203</c:v>
                </c:pt>
                <c:pt idx="27">
                  <c:v>0.8542435424354243</c:v>
                </c:pt>
                <c:pt idx="28">
                  <c:v>0.8421052631578947</c:v>
                </c:pt>
                <c:pt idx="29">
                  <c:v>0.8383838383838383</c:v>
                </c:pt>
                <c:pt idx="30">
                  <c:v>0.8357723577235773</c:v>
                </c:pt>
                <c:pt idx="31">
                  <c:v>0.8268330733229329</c:v>
                </c:pt>
                <c:pt idx="32">
                  <c:v>0.8191330343796711</c:v>
                </c:pt>
                <c:pt idx="33">
                  <c:v>0.8162083936324168</c:v>
                </c:pt>
                <c:pt idx="34">
                  <c:v>0.7975376196990424</c:v>
                </c:pt>
                <c:pt idx="35">
                  <c:v>0.791005291005291</c:v>
                </c:pt>
                <c:pt idx="36">
                  <c:v>0.7873417721518987</c:v>
                </c:pt>
                <c:pt idx="37">
                  <c:v>0.7863354037267081</c:v>
                </c:pt>
                <c:pt idx="38">
                  <c:v>0.7779069767441861</c:v>
                </c:pt>
                <c:pt idx="39">
                  <c:v>0.7779069767441861</c:v>
                </c:pt>
                <c:pt idx="40">
                  <c:v>0.7725225225225225</c:v>
                </c:pt>
                <c:pt idx="41">
                  <c:v>0.762987012987013</c:v>
                </c:pt>
                <c:pt idx="42">
                  <c:v>0.7597883597883598</c:v>
                </c:pt>
                <c:pt idx="43">
                  <c:v>0.7469512195121951</c:v>
                </c:pt>
                <c:pt idx="44">
                  <c:v>0.732943469785575</c:v>
                </c:pt>
                <c:pt idx="45">
                  <c:v>0.724624060150376</c:v>
                </c:pt>
                <c:pt idx="46">
                  <c:v>0.7132486388384754</c:v>
                </c:pt>
                <c:pt idx="47">
                  <c:v>0.7038961038961039</c:v>
                </c:pt>
                <c:pt idx="48">
                  <c:v>0.6984667802385008</c:v>
                </c:pt>
                <c:pt idx="49">
                  <c:v>0.6891447368421053</c:v>
                </c:pt>
                <c:pt idx="50">
                  <c:v>0.6740331491712708</c:v>
                </c:pt>
                <c:pt idx="51">
                  <c:v>0.6636225266362252</c:v>
                </c:pt>
                <c:pt idx="52">
                  <c:v>0.6541850220264317</c:v>
                </c:pt>
                <c:pt idx="53">
                  <c:v>0.6462633451957296</c:v>
                </c:pt>
                <c:pt idx="54">
                  <c:v>0.6374309392265194</c:v>
                </c:pt>
                <c:pt idx="55">
                  <c:v>0.6241699867197875</c:v>
                </c:pt>
                <c:pt idx="56">
                  <c:v>0.6126760563380281</c:v>
                </c:pt>
                <c:pt idx="57">
                  <c:v>0.5985267034990792</c:v>
                </c:pt>
                <c:pt idx="58">
                  <c:v>0.5836277974087162</c:v>
                </c:pt>
                <c:pt idx="59">
                  <c:v>0.5732954545454545</c:v>
                </c:pt>
                <c:pt idx="60">
                  <c:v>0.5638063806380638</c:v>
                </c:pt>
                <c:pt idx="61">
                  <c:v>0.5373904074265085</c:v>
                </c:pt>
                <c:pt idx="62">
                  <c:v>0.5201375245579568</c:v>
                </c:pt>
                <c:pt idx="63">
                  <c:v>0.4954001839926403</c:v>
                </c:pt>
                <c:pt idx="64">
                  <c:v>0.48300220750551875</c:v>
                </c:pt>
                <c:pt idx="65">
                  <c:v>0.45458265139116205</c:v>
                </c:pt>
                <c:pt idx="66">
                  <c:v>0.4258210645526614</c:v>
                </c:pt>
                <c:pt idx="67">
                  <c:v>0.4113018597997139</c:v>
                </c:pt>
                <c:pt idx="68">
                  <c:v>0.39537257570602247</c:v>
                </c:pt>
                <c:pt idx="69">
                  <c:v>0.3714555765595463</c:v>
                </c:pt>
                <c:pt idx="70">
                  <c:v>0.3543703703703704</c:v>
                </c:pt>
                <c:pt idx="71">
                  <c:v>0.32149483169891335</c:v>
                </c:pt>
                <c:pt idx="72">
                  <c:v>0.28724894908921067</c:v>
                </c:pt>
                <c:pt idx="73">
                  <c:v>0.26126126126126126</c:v>
                </c:pt>
                <c:pt idx="74">
                  <c:v>0.23137470254438952</c:v>
                </c:pt>
                <c:pt idx="75">
                  <c:v>0.1994395142456796</c:v>
                </c:pt>
                <c:pt idx="76">
                  <c:v>0.17591339648173207</c:v>
                </c:pt>
              </c:numCache>
            </c:numRef>
          </c:val>
          <c:smooth val="0"/>
        </c:ser>
        <c:ser>
          <c:idx val="2"/>
          <c:order val="2"/>
          <c:tx>
            <c:strRef>
              <c:f>Sheet1!$D$1</c:f>
              <c:strCache>
                <c:ptCount val="1"/>
                <c:pt idx="0">
                  <c:v>yolo11n, 3 frames</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Sheet1!$A$2:$A$92</c:f>
              <c:multiLvlStrCache>
                <c:ptCount val="9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lvl>
              </c:multiLvlStrCache>
            </c:multiLvlStrRef>
          </c:cat>
          <c:val>
            <c:numRef>
              <c:f>Sheet1!$D$2:$D$92</c:f>
              <c:numCache>
                <c:formatCode>General</c:formatCode>
                <c:ptCount val="91"/>
                <c:pt idx="0">
                  <c:v>1</c:v>
                </c:pt>
                <c:pt idx="1">
                  <c:v>1</c:v>
                </c:pt>
                <c:pt idx="2">
                  <c:v>1</c:v>
                </c:pt>
                <c:pt idx="3">
                  <c:v>1</c:v>
                </c:pt>
                <c:pt idx="4">
                  <c:v>0.987012987012987</c:v>
                </c:pt>
                <c:pt idx="5">
                  <c:v>0.978021978021978</c:v>
                </c:pt>
                <c:pt idx="6">
                  <c:v>0.9606299212598425</c:v>
                </c:pt>
                <c:pt idx="7">
                  <c:v>0.9606299212598425</c:v>
                </c:pt>
                <c:pt idx="8">
                  <c:v>0.9578947368421052</c:v>
                </c:pt>
                <c:pt idx="9">
                  <c:v>0.9578947368421052</c:v>
                </c:pt>
                <c:pt idx="10">
                  <c:v>0.9578947368421052</c:v>
                </c:pt>
                <c:pt idx="11">
                  <c:v>0.9494949494949495</c:v>
                </c:pt>
                <c:pt idx="12">
                  <c:v>0.9490740740740741</c:v>
                </c:pt>
                <c:pt idx="13">
                  <c:v>0.9294605809128631</c:v>
                </c:pt>
                <c:pt idx="14">
                  <c:v>0.929368029739777</c:v>
                </c:pt>
                <c:pt idx="15">
                  <c:v>0.9263157894736842</c:v>
                </c:pt>
                <c:pt idx="16">
                  <c:v>0.922360248447205</c:v>
                </c:pt>
                <c:pt idx="17">
                  <c:v>0.922360248447205</c:v>
                </c:pt>
                <c:pt idx="18">
                  <c:v>0.9205882352941176</c:v>
                </c:pt>
                <c:pt idx="19">
                  <c:v>0.9148936170212766</c:v>
                </c:pt>
                <c:pt idx="20">
                  <c:v>0.9148936170212766</c:v>
                </c:pt>
                <c:pt idx="21">
                  <c:v>0.9047619047619048</c:v>
                </c:pt>
                <c:pt idx="22">
                  <c:v>0.8993135011441648</c:v>
                </c:pt>
                <c:pt idx="23">
                  <c:v>0.8993135011441648</c:v>
                </c:pt>
                <c:pt idx="24">
                  <c:v>0.8964059196617337</c:v>
                </c:pt>
                <c:pt idx="25">
                  <c:v>0.8951781970649895</c:v>
                </c:pt>
                <c:pt idx="26">
                  <c:v>0.8908382066276803</c:v>
                </c:pt>
                <c:pt idx="27">
                  <c:v>0.8876190476190476</c:v>
                </c:pt>
                <c:pt idx="28">
                  <c:v>0.8825688073394495</c:v>
                </c:pt>
                <c:pt idx="29">
                  <c:v>0.8719723183391004</c:v>
                </c:pt>
                <c:pt idx="30">
                  <c:v>0.868020304568528</c:v>
                </c:pt>
                <c:pt idx="31">
                  <c:v>0.8496</c:v>
                </c:pt>
                <c:pt idx="32">
                  <c:v>0.8480620155038759</c:v>
                </c:pt>
                <c:pt idx="33">
                  <c:v>0.8395245170876672</c:v>
                </c:pt>
                <c:pt idx="34">
                  <c:v>0.8378766140602583</c:v>
                </c:pt>
                <c:pt idx="35">
                  <c:v>0.8340306834030683</c:v>
                </c:pt>
                <c:pt idx="36">
                  <c:v>0.8326745718050066</c:v>
                </c:pt>
                <c:pt idx="37">
                  <c:v>0.8326745718050066</c:v>
                </c:pt>
                <c:pt idx="38">
                  <c:v>0.8282828282828283</c:v>
                </c:pt>
                <c:pt idx="39">
                  <c:v>0.8277571251548946</c:v>
                </c:pt>
                <c:pt idx="40">
                  <c:v>0.8225616921269095</c:v>
                </c:pt>
                <c:pt idx="41">
                  <c:v>0.8222222222222222</c:v>
                </c:pt>
                <c:pt idx="42">
                  <c:v>0.8204545454545454</c:v>
                </c:pt>
                <c:pt idx="43">
                  <c:v>0.8146929824561403</c:v>
                </c:pt>
                <c:pt idx="44">
                  <c:v>0.8072417465388712</c:v>
                </c:pt>
                <c:pt idx="45">
                  <c:v>0.7987551867219918</c:v>
                </c:pt>
                <c:pt idx="46">
                  <c:v>0.792964824120603</c:v>
                </c:pt>
                <c:pt idx="47">
                  <c:v>0.7846003898635477</c:v>
                </c:pt>
                <c:pt idx="48">
                  <c:v>0.7774621212121212</c:v>
                </c:pt>
                <c:pt idx="49">
                  <c:v>0.7533753375337534</c:v>
                </c:pt>
                <c:pt idx="50">
                  <c:v>0.7469458987783595</c:v>
                </c:pt>
                <c:pt idx="51">
                  <c:v>0.7352445193929174</c:v>
                </c:pt>
                <c:pt idx="52">
                  <c:v>0.7233009708737864</c:v>
                </c:pt>
                <c:pt idx="53">
                  <c:v>0.7105882352941176</c:v>
                </c:pt>
                <c:pt idx="54">
                  <c:v>0.6959459459459459</c:v>
                </c:pt>
                <c:pt idx="55">
                  <c:v>0.6891495601173021</c:v>
                </c:pt>
                <c:pt idx="56">
                  <c:v>0.6828225231646472</c:v>
                </c:pt>
                <c:pt idx="57">
                  <c:v>0.6731167933655839</c:v>
                </c:pt>
                <c:pt idx="58">
                  <c:v>0.6389426176660219</c:v>
                </c:pt>
                <c:pt idx="59">
                  <c:v>0.628428927680798</c:v>
                </c:pt>
                <c:pt idx="60">
                  <c:v>0.6156156156156156</c:v>
                </c:pt>
                <c:pt idx="61">
                  <c:v>0.597819850831899</c:v>
                </c:pt>
                <c:pt idx="62">
                  <c:v>0.5739837398373984</c:v>
                </c:pt>
                <c:pt idx="63">
                  <c:v>0.5514592933947773</c:v>
                </c:pt>
                <c:pt idx="64">
                  <c:v>0.532360097323601</c:v>
                </c:pt>
                <c:pt idx="65">
                  <c:v>0.5056895766954939</c:v>
                </c:pt>
                <c:pt idx="66">
                  <c:v>0.47456914670029426</c:v>
                </c:pt>
                <c:pt idx="67">
                  <c:v>0.44849197023110066</c:v>
                </c:pt>
                <c:pt idx="68">
                  <c:v>0.4256410256410256</c:v>
                </c:pt>
                <c:pt idx="69">
                  <c:v>0.3983108108108108</c:v>
                </c:pt>
                <c:pt idx="70">
                  <c:v>0.3628640776699029</c:v>
                </c:pt>
                <c:pt idx="71">
                  <c:v>0.3466704772792226</c:v>
                </c:pt>
                <c:pt idx="72">
                  <c:v>0.31522296258329063</c:v>
                </c:pt>
                <c:pt idx="73">
                  <c:v>0.28542000457770655</c:v>
                </c:pt>
                <c:pt idx="74">
                  <c:v>0.2415902140672783</c:v>
                </c:pt>
                <c:pt idx="75">
                  <c:v>0.20268987341772152</c:v>
                </c:pt>
              </c:numCache>
            </c:numRef>
          </c:val>
          <c:smooth val="0"/>
        </c:ser>
        <c:ser>
          <c:idx val="3"/>
          <c:order val="3"/>
          <c:tx>
            <c:strRef>
              <c:f>Sheet1!$E$1</c:f>
              <c:strCache>
                <c:ptCount val="1"/>
                <c:pt idx="0">
                  <c:v>yolo11s, 3 frames, 12 epochs</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Sheet1!$A$2:$A$92</c:f>
              <c:multiLvlStrCache>
                <c:ptCount val="9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lvl>
              </c:multiLvlStrCache>
            </c:multiLvlStrRef>
          </c:cat>
          <c:val>
            <c:numRef>
              <c:f>Sheet1!$E$2:$E$92</c:f>
              <c:numCache>
                <c:formatCode>General</c:formatCode>
                <c:ptCount val="91"/>
                <c:pt idx="0">
                  <c:v>1</c:v>
                </c:pt>
                <c:pt idx="1">
                  <c:v>1</c:v>
                </c:pt>
                <c:pt idx="2">
                  <c:v>1</c:v>
                </c:pt>
                <c:pt idx="3">
                  <c:v>1</c:v>
                </c:pt>
                <c:pt idx="4">
                  <c:v>0.9922480620155039</c:v>
                </c:pt>
                <c:pt idx="5">
                  <c:v>0.9922480620155039</c:v>
                </c:pt>
                <c:pt idx="6">
                  <c:v>0.9922480620155039</c:v>
                </c:pt>
                <c:pt idx="7">
                  <c:v>0.9922480620155039</c:v>
                </c:pt>
                <c:pt idx="8">
                  <c:v>0.9820359281437125</c:v>
                </c:pt>
                <c:pt idx="9">
                  <c:v>0.9820359281437125</c:v>
                </c:pt>
                <c:pt idx="10">
                  <c:v>0.9781420765027322</c:v>
                </c:pt>
                <c:pt idx="11">
                  <c:v>0.9740932642487047</c:v>
                </c:pt>
                <c:pt idx="12">
                  <c:v>0.9737704918032787</c:v>
                </c:pt>
                <c:pt idx="13">
                  <c:v>0.9737704918032787</c:v>
                </c:pt>
                <c:pt idx="14">
                  <c:v>0.9737704918032787</c:v>
                </c:pt>
                <c:pt idx="15">
                  <c:v>0.9737704918032787</c:v>
                </c:pt>
                <c:pt idx="16">
                  <c:v>0.9737704918032787</c:v>
                </c:pt>
                <c:pt idx="17">
                  <c:v>0.9737704918032787</c:v>
                </c:pt>
                <c:pt idx="18">
                  <c:v>0.9717868338557993</c:v>
                </c:pt>
                <c:pt idx="19">
                  <c:v>0.9673590504451038</c:v>
                </c:pt>
                <c:pt idx="20">
                  <c:v>0.9627791563275434</c:v>
                </c:pt>
                <c:pt idx="21">
                  <c:v>0.9627791563275434</c:v>
                </c:pt>
                <c:pt idx="22">
                  <c:v>0.9627791563275434</c:v>
                </c:pt>
                <c:pt idx="23">
                  <c:v>0.961352657004831</c:v>
                </c:pt>
                <c:pt idx="24">
                  <c:v>0.9590909090909091</c:v>
                </c:pt>
                <c:pt idx="25">
                  <c:v>0.955456570155902</c:v>
                </c:pt>
                <c:pt idx="26">
                  <c:v>0.9536842105263158</c:v>
                </c:pt>
                <c:pt idx="27">
                  <c:v>0.9489795918367347</c:v>
                </c:pt>
                <c:pt idx="28">
                  <c:v>0.9453125</c:v>
                </c:pt>
                <c:pt idx="29">
                  <c:v>0.9433962264150944</c:v>
                </c:pt>
                <c:pt idx="30">
                  <c:v>0.9372759856630825</c:v>
                </c:pt>
                <c:pt idx="31">
                  <c:v>0.9328743545611016</c:v>
                </c:pt>
                <c:pt idx="32">
                  <c:v>0.9319727891156463</c:v>
                </c:pt>
                <c:pt idx="33">
                  <c:v>0.9230769230769231</c:v>
                </c:pt>
                <c:pt idx="34">
                  <c:v>0.9207606973058637</c:v>
                </c:pt>
                <c:pt idx="35">
                  <c:v>0.9118541033434651</c:v>
                </c:pt>
                <c:pt idx="36">
                  <c:v>0.9104258443465492</c:v>
                </c:pt>
                <c:pt idx="37">
                  <c:v>0.9067431850789096</c:v>
                </c:pt>
                <c:pt idx="38">
                  <c:v>0.8984910836762688</c:v>
                </c:pt>
                <c:pt idx="39">
                  <c:v>0.8931909212283045</c:v>
                </c:pt>
                <c:pt idx="40">
                  <c:v>0.8857509627727856</c:v>
                </c:pt>
                <c:pt idx="41">
                  <c:v>0.8830188679245283</c:v>
                </c:pt>
                <c:pt idx="42">
                  <c:v>0.8799019607843137</c:v>
                </c:pt>
                <c:pt idx="43">
                  <c:v>0.8739595719381689</c:v>
                </c:pt>
                <c:pt idx="44">
                  <c:v>0.8685714285714285</c:v>
                </c:pt>
                <c:pt idx="45">
                  <c:v>0.8670391061452514</c:v>
                </c:pt>
                <c:pt idx="46">
                  <c:v>0.8637362637362638</c:v>
                </c:pt>
                <c:pt idx="47">
                  <c:v>0.850635593220339</c:v>
                </c:pt>
                <c:pt idx="48">
                  <c:v>0.8432377049180327</c:v>
                </c:pt>
                <c:pt idx="49">
                  <c:v>0.8378378378378378</c:v>
                </c:pt>
                <c:pt idx="50">
                  <c:v>0.8309037900874635</c:v>
                </c:pt>
                <c:pt idx="51">
                  <c:v>0.819718309859155</c:v>
                </c:pt>
                <c:pt idx="52">
                  <c:v>0.8074477747502271</c:v>
                </c:pt>
                <c:pt idx="53">
                  <c:v>0.7837370242214533</c:v>
                </c:pt>
                <c:pt idx="54">
                  <c:v>0.7769360269360269</c:v>
                </c:pt>
                <c:pt idx="55">
                  <c:v>0.7700490998363339</c:v>
                </c:pt>
                <c:pt idx="56">
                  <c:v>0.760731319554849</c:v>
                </c:pt>
                <c:pt idx="57">
                  <c:v>0.7475057559478128</c:v>
                </c:pt>
                <c:pt idx="58">
                  <c:v>0.7286764705882353</c:v>
                </c:pt>
                <c:pt idx="59">
                  <c:v>0.7112676056338029</c:v>
                </c:pt>
                <c:pt idx="60">
                  <c:v>0.6958587915818059</c:v>
                </c:pt>
                <c:pt idx="61">
                  <c:v>0.6752743705616526</c:v>
                </c:pt>
                <c:pt idx="62">
                  <c:v>0.6658291457286433</c:v>
                </c:pt>
                <c:pt idx="63">
                  <c:v>0.6468468468468469</c:v>
                </c:pt>
                <c:pt idx="64">
                  <c:v>0.624785836664763</c:v>
                </c:pt>
                <c:pt idx="65">
                  <c:v>0.6087671232876712</c:v>
                </c:pt>
                <c:pt idx="66">
                  <c:v>0.586888657648283</c:v>
                </c:pt>
                <c:pt idx="67">
                  <c:v>0.5566358774914925</c:v>
                </c:pt>
                <c:pt idx="68">
                  <c:v>0.5335169880624426</c:v>
                </c:pt>
                <c:pt idx="69">
                  <c:v>0.5053579082726104</c:v>
                </c:pt>
                <c:pt idx="70">
                  <c:v>0.4692277538220306</c:v>
                </c:pt>
                <c:pt idx="71">
                  <c:v>0.45434131736526945</c:v>
                </c:pt>
                <c:pt idx="72">
                  <c:v>0.43524416135881105</c:v>
                </c:pt>
                <c:pt idx="73">
                  <c:v>0.4120951751487112</c:v>
                </c:pt>
                <c:pt idx="74">
                  <c:v>0.37385388938183967</c:v>
                </c:pt>
                <c:pt idx="75">
                  <c:v>0.34990439770554493</c:v>
                </c:pt>
                <c:pt idx="76">
                  <c:v>0.31659761150377774</c:v>
                </c:pt>
                <c:pt idx="77">
                  <c:v>0.28913282107574095</c:v>
                </c:pt>
                <c:pt idx="78">
                  <c:v>0.2558050278257532</c:v>
                </c:pt>
                <c:pt idx="79">
                  <c:v>0.2225886232481451</c:v>
                </c:pt>
                <c:pt idx="80">
                  <c:v>0.19825960841189266</c:v>
                </c:pt>
              </c:numCache>
            </c:numRef>
          </c:val>
          <c:smooth val="0"/>
        </c:ser>
        <c:ser>
          <c:idx val="4"/>
          <c:order val="4"/>
          <c:tx>
            <c:strRef>
              <c:f>Sheet1!$F$1</c:f>
              <c:strCache>
                <c:ptCount val="1"/>
                <c:pt idx="0">
                  <c:v>yolo11s, 3 frames, 50 epochs</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Sheet1!$A$2:$A$92</c:f>
              <c:multiLvlStrCache>
                <c:ptCount val="9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lvl>
              </c:multiLvlStrCache>
            </c:multiLvlStrRef>
          </c:cat>
          <c:val>
            <c:numRef>
              <c:f>Sheet1!$F$2:$F$92</c:f>
              <c:numCache>
                <c:formatCode>General</c:formatCode>
                <c:ptCount val="9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0.9980430528375733</c:v>
                </c:pt>
                <c:pt idx="17">
                  <c:v>0.9980430528375733</c:v>
                </c:pt>
                <c:pt idx="18">
                  <c:v>0.9980430528375733</c:v>
                </c:pt>
                <c:pt idx="19">
                  <c:v>0.9980430528375733</c:v>
                </c:pt>
                <c:pt idx="20">
                  <c:v>0.9980430528375733</c:v>
                </c:pt>
                <c:pt idx="21">
                  <c:v>0.9980430528375733</c:v>
                </c:pt>
                <c:pt idx="22">
                  <c:v>0.9980430528375733</c:v>
                </c:pt>
                <c:pt idx="23">
                  <c:v>0.9980430528375733</c:v>
                </c:pt>
                <c:pt idx="24">
                  <c:v>0.9980430528375733</c:v>
                </c:pt>
                <c:pt idx="25">
                  <c:v>0.9980430528375733</c:v>
                </c:pt>
                <c:pt idx="26">
                  <c:v>0.9980430528375733</c:v>
                </c:pt>
                <c:pt idx="27">
                  <c:v>0.9980430528375733</c:v>
                </c:pt>
                <c:pt idx="28">
                  <c:v>0.9980430528375733</c:v>
                </c:pt>
                <c:pt idx="29">
                  <c:v>0.9980430528375733</c:v>
                </c:pt>
                <c:pt idx="30">
                  <c:v>0.9964028776978417</c:v>
                </c:pt>
                <c:pt idx="31">
                  <c:v>0.9964028776978417</c:v>
                </c:pt>
                <c:pt idx="32">
                  <c:v>0.9964028776978417</c:v>
                </c:pt>
                <c:pt idx="33">
                  <c:v>0.9952904238618524</c:v>
                </c:pt>
                <c:pt idx="34">
                  <c:v>0.9952904238618524</c:v>
                </c:pt>
                <c:pt idx="35">
                  <c:v>0.9952904238618524</c:v>
                </c:pt>
                <c:pt idx="36">
                  <c:v>0.9952904238618524</c:v>
                </c:pt>
                <c:pt idx="37">
                  <c:v>0.9952904238618524</c:v>
                </c:pt>
                <c:pt idx="38">
                  <c:v>0.9924471299093656</c:v>
                </c:pt>
                <c:pt idx="39">
                  <c:v>0.9917808219178083</c:v>
                </c:pt>
                <c:pt idx="40">
                  <c:v>0.9917808219178083</c:v>
                </c:pt>
                <c:pt idx="41">
                  <c:v>0.9917808219178083</c:v>
                </c:pt>
                <c:pt idx="42">
                  <c:v>0.9917808219178083</c:v>
                </c:pt>
                <c:pt idx="43">
                  <c:v>0.9907894736842106</c:v>
                </c:pt>
                <c:pt idx="44">
                  <c:v>0.9907894736842106</c:v>
                </c:pt>
                <c:pt idx="45">
                  <c:v>0.9890377588306942</c:v>
                </c:pt>
                <c:pt idx="46">
                  <c:v>0.9890377588306942</c:v>
                </c:pt>
                <c:pt idx="47">
                  <c:v>0.9890377588306942</c:v>
                </c:pt>
                <c:pt idx="48">
                  <c:v>0.9879807692307693</c:v>
                </c:pt>
                <c:pt idx="49">
                  <c:v>0.9871645274212368</c:v>
                </c:pt>
                <c:pt idx="50">
                  <c:v>0.9865563598759048</c:v>
                </c:pt>
                <c:pt idx="51">
                  <c:v>0.9865563598759048</c:v>
                </c:pt>
                <c:pt idx="52">
                  <c:v>0.9865563598759048</c:v>
                </c:pt>
                <c:pt idx="53">
                  <c:v>0.9865563598759048</c:v>
                </c:pt>
                <c:pt idx="54">
                  <c:v>0.9865563598759048</c:v>
                </c:pt>
                <c:pt idx="55">
                  <c:v>0.9865563598759048</c:v>
                </c:pt>
                <c:pt idx="56">
                  <c:v>0.98559670781893</c:v>
                </c:pt>
                <c:pt idx="57">
                  <c:v>0.9838383838383838</c:v>
                </c:pt>
                <c:pt idx="58">
                  <c:v>0.9793307086614174</c:v>
                </c:pt>
                <c:pt idx="59">
                  <c:v>0.978702807357212</c:v>
                </c:pt>
                <c:pt idx="60">
                  <c:v>0.9734345351043643</c:v>
                </c:pt>
                <c:pt idx="61">
                  <c:v>0.9721189591078067</c:v>
                </c:pt>
                <c:pt idx="62">
                  <c:v>0.9706691109074244</c:v>
                </c:pt>
                <c:pt idx="63">
                  <c:v>0.966041108132261</c:v>
                </c:pt>
                <c:pt idx="64">
                  <c:v>0.9596844872918493</c:v>
                </c:pt>
                <c:pt idx="65">
                  <c:v>0.9554030874785592</c:v>
                </c:pt>
                <c:pt idx="66">
                  <c:v>0.9463087248322147</c:v>
                </c:pt>
                <c:pt idx="67">
                  <c:v>0.9416118421052632</c:v>
                </c:pt>
                <c:pt idx="68">
                  <c:v>0.9318910256410257</c:v>
                </c:pt>
                <c:pt idx="69">
                  <c:v>0.9265625</c:v>
                </c:pt>
                <c:pt idx="70">
                  <c:v>0.9192928516525749</c:v>
                </c:pt>
                <c:pt idx="71">
                  <c:v>0.9113448534936138</c:v>
                </c:pt>
                <c:pt idx="72">
                  <c:v>0.8978102189781022</c:v>
                </c:pt>
                <c:pt idx="73">
                  <c:v>0.8907142857142857</c:v>
                </c:pt>
                <c:pt idx="74">
                  <c:v>0.8723257418909592</c:v>
                </c:pt>
                <c:pt idx="75">
                  <c:v>0.8608870967741935</c:v>
                </c:pt>
                <c:pt idx="76">
                  <c:v>0.8524590163934426</c:v>
                </c:pt>
                <c:pt idx="77">
                  <c:v>0.8366179275270185</c:v>
                </c:pt>
                <c:pt idx="78">
                  <c:v>0.8103343465045593</c:v>
                </c:pt>
                <c:pt idx="79">
                  <c:v>0.7702394526795895</c:v>
                </c:pt>
                <c:pt idx="80">
                  <c:v>0.6988752556237219</c:v>
                </c:pt>
                <c:pt idx="81">
                  <c:v>0.6328303612254229</c:v>
                </c:pt>
                <c:pt idx="82">
                  <c:v>0.5577229299363057</c:v>
                </c:pt>
                <c:pt idx="83">
                  <c:v>0.5042674253200569</c:v>
                </c:pt>
                <c:pt idx="84">
                  <c:v>0.43118990384615385</c:v>
                </c:pt>
                <c:pt idx="85">
                  <c:v>0.3588729609490855</c:v>
                </c:pt>
              </c:numCache>
            </c:numRef>
          </c:val>
          <c:smooth val="0"/>
        </c:ser>
        <c:dLbls>
          <c:numFmt formatCode="#,##0" sourceLinked="0"/>
          <c:txPr>
            <a:bodyPr/>
            <a:lstStyle/>
            <a:p>
              <a:pPr>
                <a:defRPr b="0" i="0" strike="noStrike" sz="1200" u="none">
                  <a:solidFill>
                    <a:srgbClr val="1F2A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Recall</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10"/>
      </c:catAx>
      <c:valAx>
        <c:axId val="2094734552"/>
        <c:scaling>
          <c:orientation val="minMax"/>
          <c:max val="1"/>
          <c:min val="0"/>
        </c:scaling>
        <c:delete val="0"/>
        <c:axPos val="l"/>
        <c:majorGridlines>
          <c:spPr>
            <a:ln w="9525" cap="flat">
              <a:solidFill>
                <a:srgbClr val="E3E2DE"/>
              </a:solidFill>
              <a:prstDash val="solid"/>
              <a:round/>
            </a:ln>
          </c:spPr>
        </c:majorGridlines>
        <c:title>
          <c:tx>
            <c:rich>
              <a:bodyPr/>
              <a:lstStyle/>
              <a:p>
                <a:pPr>
                  <a:defRPr sz="1200" b="0" i="0" u="none" strike="noStrike">
                    <a:solidFill>
                      <a:srgbClr val="52514E"/>
                    </a:solidFill>
                    <a:latin typeface="+mn-lt"/>
                  </a:defRPr>
                </a:pPr>
                <a:r>
                  <a:rPr sz="1200" b="0" i="0" u="none" strike="noStrike">
                    <a:solidFill>
                      <a:srgbClr val="52514E"/>
                    </a:solidFill>
                    <a:latin typeface="+mn-lt"/>
                  </a:rPr>
                  <a:t>Precision</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1F2A3D"/>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Recall at best F1, by group</a:t>
            </a:r>
          </a:p>
        </c:rich>
      </c:tx>
      <c:layout/>
      <c:overlay val="0"/>
    </c:title>
    <c:autoTitleDeleted val="0"/>
    <c:plotArea>
      <c:layout/>
      <c:barChart>
        <c:barDir val="col"/>
        <c:grouping val="clustered"/>
        <c:varyColors val="0"/>
        <c:ser>
          <c:idx val="0"/>
          <c:order val="0"/>
          <c:tx>
            <c:strRef>
              <c:f>Sheet1!$B$1</c:f>
              <c:strCache>
                <c:ptCount val="1"/>
                <c:pt idx="0">
                  <c:v>yolo11s, 3 frames, 12 epochs</c:v>
                </c:pt>
              </c:strCache>
            </c:strRef>
          </c:tx>
          <c:spPr>
            <a:solidFill>
              <a:srgbClr val="2A78D6"/>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Sheet1!$A$2:$A$5</c:f>
              <c:multiLvlStrCache>
                <c:ptCount val="4"/>
                <c:lvl>
                  <c:pt idx="0">
                    <c:v>Against sky (1,095)</c:v>
                  </c:pt>
                  <c:pt idx="1">
                    <c:v>Against ground (590)</c:v>
                  </c:pt>
                  <c:pt idx="2">
                    <c:v>Under 10 px (727)</c:v>
                  </c:pt>
                  <c:pt idx="3">
                    <c:v>10 px or more (981)</c:v>
                  </c:pt>
                </c:lvl>
              </c:multiLvlStrCache>
            </c:multiLvlStrRef>
          </c:cat>
          <c:val>
            <c:numRef>
              <c:f>Sheet1!$B$2:$B$5</c:f>
              <c:numCache>
                <c:formatCode>General</c:formatCode>
                <c:ptCount val="4"/>
                <c:pt idx="0">
                  <c:v>0.69</c:v>
                </c:pt>
                <c:pt idx="1">
                  <c:v>0.354</c:v>
                </c:pt>
                <c:pt idx="2">
                  <c:v>0.322</c:v>
                </c:pt>
                <c:pt idx="3">
                  <c:v>0.754</c:v>
                </c:pt>
              </c:numCache>
            </c:numRef>
          </c:val>
        </c:ser>
        <c:ser>
          <c:idx val="1"/>
          <c:order val="1"/>
          <c:tx>
            <c:strRef>
              <c:f>Sheet1!$C$1</c:f>
              <c:strCache>
                <c:ptCount val="1"/>
                <c:pt idx="0">
                  <c:v>yolo11s, 3 frames, 50 epochs</c:v>
                </c:pt>
              </c:strCache>
            </c:strRef>
          </c:tx>
          <c:spPr>
            <a:solidFill>
              <a:srgbClr val="EB6834"/>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Sheet1!$A$2:$A$5</c:f>
              <c:multiLvlStrCache>
                <c:ptCount val="4"/>
                <c:lvl>
                  <c:pt idx="0">
                    <c:v>Against sky (1,095)</c:v>
                  </c:pt>
                  <c:pt idx="1">
                    <c:v>Against ground (590)</c:v>
                  </c:pt>
                  <c:pt idx="2">
                    <c:v>Under 10 px (727)</c:v>
                  </c:pt>
                  <c:pt idx="3">
                    <c:v>10 px or more (981)</c:v>
                  </c:pt>
                </c:lvl>
              </c:multiLvlStrCache>
            </c:multiLvlStrRef>
          </c:cat>
          <c:val>
            <c:numRef>
              <c:f>Sheet1!$C$2:$C$5</c:f>
              <c:numCache>
                <c:formatCode>General</c:formatCode>
                <c:ptCount val="4"/>
                <c:pt idx="0">
                  <c:v>0.869</c:v>
                </c:pt>
                <c:pt idx="1">
                  <c:v>0.576</c:v>
                </c:pt>
                <c:pt idx="2">
                  <c:v>0.554</c:v>
                </c:pt>
                <c:pt idx="3">
                  <c:v>0.923</c:v>
                </c:pt>
              </c:numCache>
            </c:numRef>
          </c:val>
        </c:ser>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2D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Average precision on AOT part 2</a:t>
            </a:r>
          </a:p>
        </c:rich>
      </c:tx>
      <c:layout/>
      <c:overlay val="0"/>
    </c:title>
    <c:autoTitleDeleted val="0"/>
    <c:plotArea>
      <c:layout/>
      <c:barChart>
        <c:barDir val="bar"/>
        <c:grouping val="clustered"/>
        <c:varyColors val="0"/>
        <c:ser>
          <c:idx val="0"/>
          <c:order val="0"/>
          <c:tx>
            <c:strRef>
              <c:f>Sheet1!$B$1</c:f>
              <c:strCache>
                <c:ptCount val="1"/>
                <c:pt idx="0">
                  <c:v>Average precision</c:v>
                </c:pt>
              </c:strCache>
            </c:strRef>
          </c:tx>
          <c:spPr>
            <a:solidFill>
              <a:srgbClr val="2A78D6"/>
            </a:solidFill>
            <a:effectLst/>
          </c:spPr>
          <c:invertIfNegative val="0"/>
          <c:dLbls>
            <c:numFmt formatCode="0.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6B6EF"/>
              </a:solidFill>
              <a:effectLst/>
            </c:spPr>
          </c:dPt>
          <c:dPt>
            <c:idx val="2"/>
            <c:invertIfNegative val="0"/>
            <c:bubble3D val="0"/>
            <c:spPr>
              <a:solidFill>
                <a:srgbClr val="EB6834"/>
              </a:solidFill>
              <a:effectLst/>
            </c:spPr>
          </c:dPt>
          <c:cat>
            <c:multiLvlStrRef>
              <c:f>Sheet1!$A$2:$A$4</c:f>
              <c:multiLvlStrCache>
                <c:ptCount val="3"/>
                <c:lvl>
                  <c:pt idx="0">
                    <c:v>12 epochs, 1,548 crops (part 1)</c:v>
                  </c:pt>
                  <c:pt idx="1">
                    <c:v>50 epochs, 5,874 crops (part 1)</c:v>
                  </c:pt>
                  <c:pt idx="2">
                    <c:v>50 epochs, 10,051 crops (parts 1 + 3)</c:v>
                  </c:pt>
                </c:lvl>
              </c:multiLvlStrCache>
            </c:multiLvlStrRef>
          </c:cat>
          <c:val>
            <c:numRef>
              <c:f>Sheet1!$B$2:$B$4</c:f>
              <c:numCache>
                <c:formatCode>General</c:formatCode>
                <c:ptCount val="3"/>
                <c:pt idx="0">
                  <c:v>0.641</c:v>
                </c:pt>
                <c:pt idx="1">
                  <c:v>0.805</c:v>
                </c:pt>
                <c:pt idx="2">
                  <c:v>0.805</c:v>
                </c:pt>
              </c:numCache>
            </c:numRef>
          </c:val>
        </c:ser>
        <c:dLbls>
          <c:numFmt formatCode="0.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2DE"/>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Average precision on full frames</a:t>
            </a:r>
          </a:p>
        </c:rich>
      </c:tx>
      <c:layout/>
      <c:overlay val="0"/>
    </c:title>
    <c:autoTitleDeleted val="0"/>
    <c:plotArea>
      <c:layout/>
      <c:barChart>
        <c:barDir val="bar"/>
        <c:grouping val="clustered"/>
        <c:varyColors val="0"/>
        <c:ser>
          <c:idx val="0"/>
          <c:order val="0"/>
          <c:tx>
            <c:strRef>
              <c:f>Sheet1!$B$1</c:f>
              <c:strCache>
                <c:ptCount val="1"/>
                <c:pt idx="0">
                  <c:v>Full-frame AP</c:v>
                </c:pt>
              </c:strCache>
            </c:strRef>
          </c:tx>
          <c:spPr>
            <a:solidFill>
              <a:srgbClr val="EDA100"/>
            </a:solidFill>
            <a:effectLst/>
          </c:spPr>
          <c:invertIfNegative val="0"/>
          <c:dLbls>
            <c:numFmt formatCode="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dPt>
            <c:idx val="0"/>
            <c:invertIfNegative val="0"/>
            <c:bubble3D val="0"/>
            <c:spPr>
              <a:solidFill>
                <a:srgbClr val="EDA100"/>
              </a:solidFill>
              <a:effectLst/>
            </c:spPr>
          </c:dPt>
          <c:dPt>
            <c:idx val="1"/>
            <c:invertIfNegative val="0"/>
            <c:bubble3D val="0"/>
            <c:spPr>
              <a:solidFill>
                <a:srgbClr val="1BAF7A"/>
              </a:solidFill>
              <a:effectLst/>
            </c:spPr>
          </c:dPt>
          <c:dPt>
            <c:idx val="2"/>
            <c:invertIfNegative val="0"/>
            <c:bubble3D val="0"/>
            <c:spPr>
              <a:solidFill>
                <a:srgbClr val="2A78D6"/>
              </a:solidFill>
              <a:effectLst/>
            </c:spPr>
          </c:dPt>
          <c:dPt>
            <c:idx val="3"/>
            <c:invertIfNegative val="0"/>
            <c:bubble3D val="0"/>
            <c:spPr>
              <a:solidFill>
                <a:srgbClr val="EB6834"/>
              </a:solidFill>
              <a:effectLst/>
            </c:spPr>
          </c:dPt>
          <c:cat>
            <c:multiLvlStrRef>
              <c:f>Sheet1!$A$2:$A$5</c:f>
              <c:multiLvlStrCache>
                <c:ptCount val="4"/>
                <c:lvl>
                  <c:pt idx="0">
                    <c:v>n, 1 frame</c:v>
                  </c:pt>
                  <c:pt idx="1">
                    <c:v>n, 3 frames</c:v>
                  </c:pt>
                  <c:pt idx="2">
                    <c:v>s, 12 epochs</c:v>
                  </c:pt>
                  <c:pt idx="3">
                    <c:v>s, 50 epochs</c:v>
                  </c:pt>
                </c:lvl>
              </c:multiLvlStrCache>
            </c:multiLvlStrRef>
          </c:cat>
          <c:val>
            <c:numRef>
              <c:f>Sheet1!$B$2:$B$5</c:f>
              <c:numCache>
                <c:formatCode>General</c:formatCode>
                <c:ptCount val="4"/>
                <c:pt idx="0">
                  <c:v>0.43</c:v>
                </c:pt>
                <c:pt idx="1">
                  <c:v>0.45</c:v>
                </c:pt>
                <c:pt idx="2">
                  <c:v>0.34</c:v>
                </c:pt>
                <c:pt idx="3">
                  <c:v>0.5</c:v>
                </c:pt>
              </c:numCache>
            </c:numRef>
          </c:val>
        </c:ser>
        <c:dLbls>
          <c:numFmt formatCode="0.0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2DE"/>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Label offset by airport (images agreeing)</a:t>
            </a:r>
          </a:p>
        </c:rich>
      </c:tx>
      <c:layout/>
      <c:overlay val="0"/>
    </c:title>
    <c:autoTitleDeleted val="0"/>
    <c:plotArea>
      <c:layout/>
      <c:barChart>
        <c:barDir val="bar"/>
        <c:grouping val="clustered"/>
        <c:varyColors val="0"/>
        <c:ser>
          <c:idx val="0"/>
          <c:order val="0"/>
          <c:tx>
            <c:strRef>
              <c:f>Sheet1!$B$1</c:f>
              <c:strCache>
                <c:ptCount val="1"/>
                <c:pt idx="0">
                  <c:v>Offset (m)</c:v>
                </c:pt>
              </c:strCache>
            </c:strRef>
          </c:tx>
          <c:spPr>
            <a:solidFill>
              <a:srgbClr val="2A78D6"/>
            </a:solidFill>
            <a:effectLst/>
          </c:spPr>
          <c:invertIfNegative val="0"/>
          <c:dLbls>
            <c:numFmt formatCode="#,##0&quot; m&quot;"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Sheet1!$A$2:$A$11</c:f>
              <c:multiLvlStrCache>
                <c:ptCount val="10"/>
                <c:lvl>
                  <c:pt idx="0">
                    <c:v>DUS (100%)</c:v>
                  </c:pt>
                  <c:pt idx="1">
                    <c:v>BRU (100%)</c:v>
                  </c:pt>
                  <c:pt idx="2">
                    <c:v>CDG (98%)</c:v>
                  </c:pt>
                  <c:pt idx="3">
                    <c:v>LGW (95%)</c:v>
                  </c:pt>
                  <c:pt idx="4">
                    <c:v>BCN (100%)</c:v>
                  </c:pt>
                  <c:pt idx="5">
                    <c:v>AGP (93%)</c:v>
                  </c:pt>
                  <c:pt idx="6">
                    <c:v>FCO (97%)</c:v>
                  </c:pt>
                  <c:pt idx="7">
                    <c:v>HEL (100%)</c:v>
                  </c:pt>
                  <c:pt idx="8">
                    <c:v>DUB (93%)</c:v>
                  </c:pt>
                  <c:pt idx="9">
                    <c:v>CPH (60%)</c:v>
                  </c:pt>
                </c:lvl>
              </c:multiLvlStrCache>
            </c:multiLvlStrRef>
          </c:cat>
          <c:val>
            <c:numRef>
              <c:f>Sheet1!$B$2:$B$11</c:f>
              <c:numCache>
                <c:formatCode>General</c:formatCode>
                <c:ptCount val="10"/>
                <c:pt idx="0">
                  <c:v>109</c:v>
                </c:pt>
                <c:pt idx="1">
                  <c:v>112</c:v>
                </c:pt>
                <c:pt idx="2">
                  <c:v>193</c:v>
                </c:pt>
                <c:pt idx="3">
                  <c:v>252</c:v>
                </c:pt>
                <c:pt idx="4">
                  <c:v>266</c:v>
                </c:pt>
                <c:pt idx="5">
                  <c:v>810</c:v>
                </c:pt>
                <c:pt idx="6">
                  <c:v>922</c:v>
                </c:pt>
                <c:pt idx="7">
                  <c:v>954</c:v>
                </c:pt>
                <c:pt idx="8">
                  <c:v>1233</c:v>
                </c:pt>
                <c:pt idx="9">
                  <c:v>1497</c:v>
                </c:pt>
              </c:numCache>
            </c:numRef>
          </c:val>
        </c:ser>
        <c:dLbls>
          <c:numFmt formatCode="#,##0&quot; m&quot;"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800"/>
          <c:min val="0"/>
        </c:scaling>
        <c:delete val="0"/>
        <c:axPos val="b"/>
        <c:majorGridlines>
          <c:spPr>
            <a:ln w="9525" cap="flat">
              <a:solidFill>
                <a:srgbClr val="E3E2DE"/>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From labels to test aircraft</a:t>
            </a:r>
          </a:p>
        </c:rich>
      </c:tx>
      <c:layout/>
      <c:overlay val="0"/>
    </c:title>
    <c:autoTitleDeleted val="0"/>
    <c:plotArea>
      <c:layout/>
      <c:barChart>
        <c:barDir val="bar"/>
        <c:grouping val="clustered"/>
        <c:varyColors val="0"/>
        <c:ser>
          <c:idx val="0"/>
          <c:order val="0"/>
          <c:tx>
            <c:strRef>
              <c:f>Sheet1!$B$1</c:f>
              <c:strCache>
                <c:ptCount val="1"/>
                <c:pt idx="0">
                  <c:v>Labels</c:v>
                </c:pt>
              </c:strCache>
            </c:strRef>
          </c:tx>
          <c:spPr>
            <a:solidFill>
              <a:srgbClr val="86B6EF"/>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dPt>
            <c:idx val="0"/>
            <c:invertIfNegative val="0"/>
            <c:bubble3D val="0"/>
            <c:spPr>
              <a:solidFill>
                <a:srgbClr val="86B6EF"/>
              </a:solidFill>
              <a:effectLst/>
            </c:spPr>
          </c:dPt>
          <c:dPt>
            <c:idx val="1"/>
            <c:invertIfNegative val="0"/>
            <c:bubble3D val="0"/>
            <c:spPr>
              <a:solidFill>
                <a:srgbClr val="5598E7"/>
              </a:solidFill>
              <a:effectLst/>
            </c:spPr>
          </c:dPt>
          <c:dPt>
            <c:idx val="2"/>
            <c:invertIfNegative val="0"/>
            <c:bubble3D val="0"/>
            <c:spPr>
              <a:solidFill>
                <a:srgbClr val="2A78D6"/>
              </a:solidFill>
              <a:effectLst/>
            </c:spPr>
          </c:dPt>
          <c:cat>
            <c:multiLvlStrRef>
              <c:f>Sheet1!$A$2:$A$4</c:f>
              <c:multiLvlStrCache>
                <c:ptCount val="3"/>
                <c:lvl>
                  <c:pt idx="0">
                    <c:v>Labels, 15 airports</c:v>
                  </c:pt>
                  <c:pt idx="1">
                    <c:v>At 10 airports with an offset</c:v>
                  </c:pt>
                  <c:pt idx="2">
                    <c:v>Matched to a strong signature</c:v>
                  </c:pt>
                </c:lvl>
              </c:multiLvlStrCache>
            </c:multiLvlStrRef>
          </c:cat>
          <c:val>
            <c:numRef>
              <c:f>Sheet1!$B$2:$B$4</c:f>
              <c:numCache>
                <c:formatCode>General</c:formatCode>
                <c:ptCount val="3"/>
                <c:pt idx="0">
                  <c:v>1782</c:v>
                </c:pt>
                <c:pt idx="1">
                  <c:v>1189</c:v>
                </c:pt>
                <c:pt idx="2">
                  <c:v>927</c:v>
                </c:pt>
              </c:numCache>
            </c:numRef>
          </c:val>
        </c:ser>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2200"/>
          <c:min val="0"/>
        </c:scaling>
        <c:delete val="0"/>
        <c:axPos val="b"/>
        <c:majorGridlines>
          <c:spPr>
            <a:ln w="9525" cap="flat">
              <a:solidFill>
                <a:srgbClr val="E3E2DE"/>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Aircraft found at 0.5</a:t>
            </a:r>
          </a:p>
        </c:rich>
      </c:tx>
      <c:layout/>
      <c:overlay val="0"/>
    </c:title>
    <c:autoTitleDeleted val="0"/>
    <c:plotArea>
      <c:layout/>
      <c:barChart>
        <c:barDir val="col"/>
        <c:grouping val="clustered"/>
        <c:varyColors val="0"/>
        <c:ser>
          <c:idx val="0"/>
          <c:order val="0"/>
          <c:tx>
            <c:strRef>
              <c:f>Sheet1!$B$1</c:f>
              <c:strCache>
                <c:ptCount val="1"/>
                <c:pt idx="0">
                  <c:v>As-is</c:v>
                </c:pt>
              </c:strCache>
            </c:strRef>
          </c:tx>
          <c:spPr>
            <a:solidFill>
              <a:srgbClr val="2A78D6"/>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Sheet1!$A$2:$A$3</c:f>
              <c:multiLvlStrCache>
                <c:ptCount val="2"/>
                <c:lvl>
                  <c:pt idx="0">
                    <c:v>19 aircraft (s2_airborne)</c:v>
                  </c:pt>
                  <c:pt idx="1">
                    <c:v>927 aircraft (s2_flying)</c:v>
                  </c:pt>
                </c:lvl>
              </c:multiLvlStrCache>
            </c:multiLvlStrRef>
          </c:cat>
          <c:val>
            <c:numRef>
              <c:f>Sheet1!$B$2:$B$3</c:f>
              <c:numCache>
                <c:formatCode>General</c:formatCode>
                <c:ptCount val="2"/>
                <c:pt idx="0">
                  <c:v>0.474</c:v>
                </c:pt>
                <c:pt idx="1">
                  <c:v>0.713</c:v>
                </c:pt>
              </c:numCache>
            </c:numRef>
          </c:val>
        </c:ser>
        <c:ser>
          <c:idx val="1"/>
          <c:order val="1"/>
          <c:tx>
            <c:strRef>
              <c:f>Sheet1!$C$1</c:f>
              <c:strCache>
                <c:ptCount val="1"/>
                <c:pt idx="0">
                  <c:v>Bands realigned</c:v>
                </c:pt>
              </c:strCache>
            </c:strRef>
          </c:tx>
          <c:spPr>
            <a:solidFill>
              <a:srgbClr val="86B6EF"/>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Sheet1!$A$2:$A$3</c:f>
              <c:multiLvlStrCache>
                <c:ptCount val="2"/>
                <c:lvl>
                  <c:pt idx="0">
                    <c:v>19 aircraft (s2_airborne)</c:v>
                  </c:pt>
                  <c:pt idx="1">
                    <c:v>927 aircraft (s2_flying)</c:v>
                  </c:pt>
                </c:lvl>
              </c:multiLvlStrCache>
            </c:multiLvlStrRef>
          </c:cat>
          <c:val>
            <c:numRef>
              <c:f>Sheet1!$C$2:$C$3</c:f>
              <c:numCache>
                <c:formatCode>General</c:formatCode>
                <c:ptCount val="2"/>
                <c:pt idx="0">
                  <c:v>0.632</c:v>
                </c:pt>
                <c:pt idx="1">
                  <c:v>0.563</c:v>
                </c:pt>
              </c:numCache>
            </c:numRef>
          </c:val>
        </c:ser>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2D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Found at 0.5, by airport (aircraft)</a:t>
            </a:r>
          </a:p>
        </c:rich>
      </c:tx>
      <c:layout/>
      <c:overlay val="0"/>
    </c:title>
    <c:autoTitleDeleted val="0"/>
    <c:plotArea>
      <c:layout/>
      <c:barChart>
        <c:barDir val="bar"/>
        <c:grouping val="clustered"/>
        <c:varyColors val="0"/>
        <c:ser>
          <c:idx val="0"/>
          <c:order val="0"/>
          <c:tx>
            <c:strRef>
              <c:f>Sheet1!$B$1</c:f>
              <c:strCache>
                <c:ptCount val="1"/>
                <c:pt idx="0">
                  <c:v>Recall</c:v>
                </c:pt>
              </c:strCache>
            </c:strRef>
          </c:tx>
          <c:spPr>
            <a:solidFill>
              <a:srgbClr val="2A78D6"/>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Sheet1!$A$2:$A$11</c:f>
              <c:multiLvlStrCache>
                <c:ptCount val="10"/>
                <c:lvl>
                  <c:pt idx="0">
                    <c:v>CDG (195)</c:v>
                  </c:pt>
                  <c:pt idx="1">
                    <c:v>DUS (48)</c:v>
                  </c:pt>
                  <c:pt idx="2">
                    <c:v>BRU (82)</c:v>
                  </c:pt>
                  <c:pt idx="3">
                    <c:v>FCO (124)</c:v>
                  </c:pt>
                  <c:pt idx="4">
                    <c:v>BCN (139)</c:v>
                  </c:pt>
                  <c:pt idx="5">
                    <c:v>AGP (53)</c:v>
                  </c:pt>
                  <c:pt idx="6">
                    <c:v>HEL (31)</c:v>
                  </c:pt>
                  <c:pt idx="7">
                    <c:v>LGW (153)</c:v>
                  </c:pt>
                  <c:pt idx="8">
                    <c:v>CPH (36)</c:v>
                  </c:pt>
                  <c:pt idx="9">
                    <c:v>DUB (66)</c:v>
                  </c:pt>
                </c:lvl>
              </c:multiLvlStrCache>
            </c:multiLvlStrRef>
          </c:cat>
          <c:val>
            <c:numRef>
              <c:f>Sheet1!$B$2:$B$11</c:f>
              <c:numCache>
                <c:formatCode>General</c:formatCode>
                <c:ptCount val="10"/>
                <c:pt idx="0">
                  <c:v>0.7897435897435897</c:v>
                </c:pt>
                <c:pt idx="1">
                  <c:v>0.7708333333333334</c:v>
                </c:pt>
                <c:pt idx="2">
                  <c:v>0.7682926829268293</c:v>
                </c:pt>
                <c:pt idx="3">
                  <c:v>0.7419354838709677</c:v>
                </c:pt>
                <c:pt idx="4">
                  <c:v>0.7122302158273381</c:v>
                </c:pt>
                <c:pt idx="5">
                  <c:v>0.6792452830188679</c:v>
                </c:pt>
                <c:pt idx="6">
                  <c:v>0.6774193548387096</c:v>
                </c:pt>
                <c:pt idx="7">
                  <c:v>0.673202614379085</c:v>
                </c:pt>
                <c:pt idx="8">
                  <c:v>0.5833333333333334</c:v>
                </c:pt>
                <c:pt idx="9">
                  <c:v>0.5303030303030303</c:v>
                </c:pt>
              </c:numCache>
            </c:numRef>
          </c:val>
        </c:ser>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2DE"/>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D"/>
                </a:solidFill>
                <a:latin typeface="+mn-lt"/>
              </a:defRPr>
            </a:pPr>
            <a:r>
              <a:rPr sz="1400" b="0" i="0" u="none" strike="noStrike">
                <a:solidFill>
                  <a:srgbClr val="1F2A3D"/>
                </a:solidFill>
                <a:latin typeface="+mn-lt"/>
              </a:rPr>
              <a:t>Aircraft found (of 19)</a:t>
            </a:r>
          </a:p>
        </c:rich>
      </c:tx>
      <c:layout/>
      <c:overlay val="0"/>
    </c:title>
    <c:autoTitleDeleted val="0"/>
    <c:plotArea>
      <c:layout/>
      <c:barChart>
        <c:barDir val="col"/>
        <c:grouping val="clustered"/>
        <c:varyColors val="0"/>
        <c:ser>
          <c:idx val="0"/>
          <c:order val="0"/>
          <c:tx>
            <c:strRef>
              <c:f>Sheet1!$B$1</c:f>
              <c:strCache>
                <c:ptCount val="1"/>
                <c:pt idx="0">
                  <c:v>S2Net</c:v>
                </c:pt>
              </c:strCache>
            </c:strRef>
          </c:tx>
          <c:spPr>
            <a:solidFill>
              <a:srgbClr val="EB6834"/>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Clutter false alarms ≤ 5%</c:v>
                  </c:pt>
                  <c:pt idx="1">
                    <c:v>≤ 8.1%</c:v>
                  </c:pt>
                  <c:pt idx="2">
                    <c:v>≤ 15%</c:v>
                  </c:pt>
                </c:lvl>
              </c:multiLvlStrCache>
            </c:multiLvlStrRef>
          </c:cat>
          <c:val>
            <c:numRef>
              <c:f>Sheet1!$B$2:$B$4</c:f>
              <c:numCache>
                <c:formatCode>General</c:formatCode>
                <c:ptCount val="3"/>
                <c:pt idx="0">
                  <c:v>18</c:v>
                </c:pt>
                <c:pt idx="1">
                  <c:v>18</c:v>
                </c:pt>
                <c:pt idx="2">
                  <c:v>18</c:v>
                </c:pt>
              </c:numCache>
            </c:numRef>
          </c:val>
        </c:ser>
        <c:ser>
          <c:idx val="1"/>
          <c:order val="1"/>
          <c:tx>
            <c:strRef>
              <c:f>Sheet1!$C$1</c:f>
              <c:strCache>
                <c:ptCount val="1"/>
                <c:pt idx="0">
                  <c:v>PlaneNet</c:v>
                </c:pt>
              </c:strCache>
            </c:strRef>
          </c:tx>
          <c:spPr>
            <a:solidFill>
              <a:srgbClr val="2A78D6"/>
            </a:solidFill>
            <a:effectLst/>
          </c:spPr>
          <c:invertIfNegative val="0"/>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Clutter false alarms ≤ 5%</c:v>
                  </c:pt>
                  <c:pt idx="1">
                    <c:v>≤ 8.1%</c:v>
                  </c:pt>
                  <c:pt idx="2">
                    <c:v>≤ 15%</c:v>
                  </c:pt>
                </c:lvl>
              </c:multiLvlStrCache>
            </c:multiLvlStrRef>
          </c:cat>
          <c:val>
            <c:numRef>
              <c:f>Sheet1!$C$2:$C$4</c:f>
              <c:numCache>
                <c:formatCode>General</c:formatCode>
                <c:ptCount val="3"/>
                <c:pt idx="0">
                  <c:v>5</c:v>
                </c:pt>
                <c:pt idx="1">
                  <c:v>12</c:v>
                </c:pt>
                <c:pt idx="2">
                  <c:v>13</c:v>
                </c:pt>
              </c:numCache>
            </c:numRef>
          </c:val>
        </c:ser>
        <c:dLbls>
          <c:numFmt formatCode="#,##0" sourceLinked="0"/>
          <c:txPr>
            <a:bodyPr/>
            <a:lstStyle/>
            <a:p>
              <a:pPr>
                <a:defRPr b="0" i="0" strike="noStrike" sz="1200" u="none">
                  <a:solidFill>
                    <a:srgbClr val="1F2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9525" cap="flat">
              <a:solidFill>
                <a:srgbClr val="E3E2D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F2A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of the planesnet-detector work: rebuilding a PlanesNet classifier (parked aircraft, satellite) into two detectors for aircraft in flight, one looking down from orbit and one for cameras looking at aircraft, then building real test sets for both and training the sky model longer on more data. All numbers come from files in the repository (docs/report.md, data/aot_part2/results, data/s2_flying).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Sky: AOT part 2 has 1,813 crops with 1,708 aircraft from 1,312 flights that no model trained on. Average precision (AP) uses centre-distance matching (a hit is within max(8 px, half the box) of an aircraft), because AOT aircraft are often under 10 px. Satellite: data/s2_flying is a label-guided Sentinel-2 set of 927 aircraft at 10 European airports, plus 2,134 background chips; S2Net is trained on it and tested on data/s2_airborne (19 aircraft, 2025). background chips. The two test-set factors compare with the previous test sets: 260 aircraft (AOT part 1 validation) and 19 aircraft (data/s2_airborne).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follow the order of the work. The appendix-style slides at the end (repo fixes, reproducibility) document what changed in the repository and how to rerun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repository (Bob Hammell, 2017-2020) trains a TFLearn CNN on PlanesNet and slides it across Planet scenes. PlanesNet is almost entirely parked and taxiing aircraft at Californian airports.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pipeline: model.py (TFLearn CNN, 877,058 parameters, 93% in one dense layer), train.py (PlanesNet JSON), detector.py (20 px window at 2 px steps, one model call per window, every hit boxed at 20x20). TensorFlow 1 and TFLearn no longer install on current Python, so the files are kept only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is PyTorch: PlaneNet, a fully convolutional classifier trained on PlanesNet plus synthetic in-flight samples, with static-object suppression across dates and band-offset motion cues. sky/ fine-tunes Ultralytics YOLO on Amazon's Airborne Object Tracking (AOT) dataset, with tiled inference, multi-frame tracking and a 3-frame temporal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dataset used, how it was split, and the leakage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AOT: s3://airborne-obj-detection-challenge-training, CDLA-Permissive 1.0, about 4,943 flights in three parts. PlanesNet: Kaggle rhammell/planesnet, supplied on the data branch because Kaggle was blocked in the cloud. Sentinel-2: L2A COGs in the public sentinel-cogs bucket, found through Earth Search. Flying Airplanes labels: Pamplona Segundo et al. 2021, github.com/maups/covid19-custom-script-contest, MIT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2448x2048 frames would shrink a 6 px aircraft below one pixel at YOLO's 640 px input. sky/prepare_aot.py maps AOT instance names to 5 classes (airplane, helicopter, bird, drone, unknown); birds and unknowns stay labelled but are ignored in scoring. About 28% of part 1 frames listed in groundtruth.csv are missing from the bucket (HTTP 404); the script over-plans by 35% and now retries transient network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ids compared across the three groundtruth.csv files. Part 1 and part 2 share none, so part 2 is a clean test set for every model trained on part 1. Part 3 shares 352 flights with part 1 and 364 with part 2, so training on part 3 as-is would leak into the test set. prepare_aot --exclude-flights part2.csv removes them; keeping --val-fraction 0.2 puts any flight shared by parts 1 and 3 on the same side (train or validation) in both, because the split is a hash of the flight id. Checked after building: 0 training flights in part 2, 0 training flights in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12-epoch models (report runs on a 4-core cloud CPU) used 1,548 training crops from part 1. The 50-epoch run used 5,874 crops from part 1's training flights and 4,177 from part 3 with part 2 excluded. On a slow connection about a quarter of downloads first failed with connection resets and timeouts; after adding retries with backoff, part 3 built with 0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AOT is greyscale, so the three colour channels are free. sky/temporal.py aligns frames t-2 and t+2 to frame t by phase correlation (to cancel the camera's own motion), matches brightness, and stacks them as (B, G, R) = (t-k, t, t+k). Hue and saturation augmentation is switched off for these models because it would scramble the time channels. No layer changes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satellite/augment.py cuts each PlanesNet aircraft out of its chip (plane_mask) with a threshold scaled to each chip's background variation; 7,489 of 8,000 aircraft are kept with clean outlines. They are pasted onto procedural cloud, sea with glint, farmland, haze and contrails, with simulated band-offset ghosting. 30% of synthetic negatives are blobs of real ground texture, so "tarmac in the sky" is not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changes for both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3x3 conv blocks (32 then 64 channels, batch norm, ReLU, 2x2 pooling), then the old dense layer rewritten as a 2x2 convolution to 128 channels, dropout and a 1x1 convolution to one score. No convolution is padded and the pools are aligned, so on a full scene the network outputs one score every 4 px, identical to classifying each 20x20 window separately; tests/test_satellite.py checks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yolo11-p2 adds a fourth detection output at 4 px per cell for 4-10 px targets; 297 of 593 weight tensors transfer from yolo11n, the rest start untrained. Its config was lost to a .gitignore rule and rebuilt from the trained checkpoint, verified tensor for tensor. yolo11s has the same structure with twice the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Recipe: 640 px, batch 16, COCO weights, centre-distance scoring. Loss: box (CIoU) + classification (BCE) + DFL.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cloud runs in docs/report.md: 12 epochs at 640 px, batch 16, about 6 minutes per epoch for yolo11n on 4 cores. Validation loss more than halved and mAP50 roughly quintupled, still rising at the last epoch; the 1-frame and 3-frame models swapped the lead several times. These mAP50 values count all five classes with box-overlap matching, so they run lower than the aircraft-only average precision used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yolo11s, 3-frame input, 10,051 training crops, 540 validation crops, --device mps on an Apple M5 Pro (24 GB). About 6.7 minutes per epoch (the 12-epoch yolo11n run took about 6 minutes per epoch on 1,548 crops on a 4-core CPU). Mosaic off for the last 10 epochs. The best epoch by Ultralytics fitness (0.1 mAP50 + 0.9 mAP50-95) is 45; that checkpoint is models/sky_yolo11s_3frame_e50.pt. The validation set differs from the 12-epoch runs' (540 vs 287 crops), so these mAP50 values are not comparable with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 prediction is a hit when its centre lies within max(8 px, half the box) of an airplane, helicopter or drone. Birds and unidentified objects are ignored. Precision and recall are read at the threshold with the best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287 crops, 260 aircraft from held-out part 1 flights (docs/report.md). Test: AOT part 2, 1,813 crops, 1,708 aircraft from 1,312 flights, none shared with part 1. Average precision: COCO 0.11 vs 0.12, yolo11n 1-frame 0.55 vs 0.56, 3-frame 0.58 vs 0.58, yolo11s 0.63 vs 0.64, yolo11n-p2 0.41 vs 0.42. The 50-epoch model used a different validation set, so it is not in this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models on the same 1,708 test aircraft. Values: COCO yolo11n 0.12, yolo11n-p2 0.42, yolo11n 1 frame 0.56, yolo11n 3 frames 0.58, yolo11s 12 epochs 0.64, yolo11s 50 epochs 0.80 (0.8047). The P2 model was undertrained at 12 epochs: about half its weights started untrained.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Interpolated precision (upper envelope) against recall on AOT part 2, sampled every 1% of recall; each curve ends at the model's maximum recall. Precision at 50% recall: yolo11s 50 epochs 99%, 12 epochs 83%, yolo11n 3 frames 75%, 1 frame 67%. At 70% recall: 92%, 47%, 36%, 35%. The COCO model never reaches 20% recall (maximum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at each model's best-F1 threshold, by group, on AOT part 2. Groups: 1,095 aircraft against sky, 590 against ground (23 unlabelled), 727 under 10 px, 981 at 10 px or more. Data and epochs changed together in the 50-epoch run, so this run cannot say how much of the gain comes from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yolo11s 3-frame runs scored on AOT part 2. 12 epochs on 1,548 part 1 crops (cloud CPU); 50 epochs on 5,874 part 1 crops; 50 epochs on 10,051 crops from parts 1 and 3. The last two differ only in the part 3 data, at equal epochs. The first two differ in both epochs and amount of part 1 data, so a run of 50 epochs on 1,548 crops is still needed to isolate epochs. Validation thresholds and recipe as before; one run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354 part-2 aircraft that the 50-epoch model finds at its best-F1 threshold (0.23) and the 12-epoch model misses at its own (0.21). Green circle: labelled aircraft. Orange boxes: detections above each model's threshold, drawn on the greyscale frame (the models see the 3-frame stack). In the second column the 50-epoch model also draws a duplicate box, which the scoring counts as a false alarm. Windows are 160 px of a 640 px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clips of 50 full 2448x2048 frames from held-out part 1 flights, 400 aircraft instances, tiled at native resolution (sky/evaluate_clips.py). Thresholds: each model's best-F1 threshold on the 540 held-out part 1 validation crops. Full-frame average precision counts every detection at confidence 0.05 or more, so it does not depend on a threshold. Raw: every detection above threshold. Offline: every detection of a track confirmed at any frame (5 hits). Crops are cut around aircraft (about 15% empty), so crop scores reward finding aircraft more than ignoring a whole frame of clutter: the 12-epoch yolo11s raises 0.97 false alarms per frame. 400 instances from 8 clips are about 8 tracked aircraft, so differences of a few points are not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PlaneNet scores 0.999 AUC on synthetic in-flight validation. The question is how it does on real aircraft in flight from orbit.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20 epochs, AdamW, one-cycle schedule. Held-out PlanesNet: 98.6% accuracy (AUC 0.998). Synthetic in-flight validation: 98.8% accuracy (AUC 0.999). data/s2_airborne: 19 aircraft found by a band-offset finder at six airports and labelled by eye, plus 62 clutter and 250 background chips. data/s2_flying: 927 aircraft at 10 airports, built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Flying Airplanes labels (Pamplona Segundo et al. 2021): 1,782 airplanes at 15 European airports, January to June 2020, as row/column pixels in mosaics built by their download.py (7x7 blocks of 0.15 x 0.10 degrees). Converting with that geometry and cutting chips from the AWS Sentinel-2 archive put the labels next to, not on, their aircraft: about 200 m east at CDG. Red cross: converted label. Yellow box: the aircraft's green copy. The cause could not be found without the authors' own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Offsets from the build log (pixels x 10 m). Images agreeing: share of an airport's voting images within 15 px of its offset. Dropped: AMS, ARN, ATH, FRA, IST (12-33% agreement within 150 px). With a 400 px search, AMS and FRA give consistent offsets (-4, -158) and (-188, 113) px, but only 61-64% of images agree and about 80% of a checked sample were clear aircraft, so they are left out. Funnel: 1,782 labels; 1,189 at the 10 kept airports; 927 matched to a strong signature (score &gt;= 15) after removing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chip is 64x64 px at 10 m, centred on the aircraft's green copy, 8-bit reflectance / 0.3, the format of data/s2_airborne. Chips are not committed; python -m satellite.build_s2_flying data/s2_flying --chips-from-labels re-cuts them from labels.csv (checked byte-identical on 279 chips). Contains modified Copernicus Sentinel data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As-is: the 60 m (6 px) square around the green copy, upsampled to 20 px. Realigned: red and blue shifted onto the green copy first, using the recorded copy positions. s2_airborne: AUC 0.99 vs background, 0.88 vs clutter. s2_flying: AUC 0.96 vs background (as-is), 0.94 realigned; false alarms 0.7% on 2,134 background chips. Recall by airport ranges from 53% (DUB, 66 aircraft) to 77% (BRU, DUS). The 63% realigned on 19 aircraft was within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satellite/s2_model.py and satellite/train_s2.py. 5 folds by airport: every chip is scored by a model that never saw its airport; folds CDG, LGW+HEL, BCN+DUS, FCO+AGP+AMS+ARN+ATH+FRA+IST, BRU+DUB+CPH. Partly circular: data/s2_flying keeps only aircraft whose signature a band-offset finder saw clearly, which is what S2Net learns. Every airport scores 97% or more. Training: 30 epochs, AdamW, one-cycle schedule, positives weighted to balance classes,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data/s2_airborne: 2025, six airports (LHR, LGW, CDG, FRA, ORD, JFK), candidates from a different band-offset finder, labelled by eye: 14 aircraft, 5 probable, 62 clutter (cars, roofs, lights), 250 background. S2Net trained on all of data/s2_flying. Matched rates: for each model the threshold is the highest that keeps clutter false alarms at or below 5%, 8.1% (PlaneNet's rate at 0.5) and 15%. At 0.5 S2Net raises slightly more false alarms (clutter 11%, background 1.2%) than PlaneNet (8%, 0.8%). With 19 aircraft every figure has wide error bars, and both test sets lean towards clear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 rohanshenoy/planesnet-detector#1 holds the original work; branch claude/validation-sets adds the test sets, the 50-epoch run and the fixes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fix is a commit on claude/fervent-pascal-x2ge7z (PR #1) or claude/validation-sets, with tests where code changed. The P2 config was rebuilt from the config stored inside the trained checkpoint: 2,740,032 parameters, identical 593 tensor names and shapes, 297/593 tensors transfer from yolo11n.pt.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python -m pytest -q (34 passed, about 15 s, no downloads). Local environment: .venv with requirements.txt plus rasterio. Trained weights are git-ignored in models/ (see models/README.md); downloaded data lives under data/ and is git-ignored except data/s2_airborne and data/s2_flying/labels.csv.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here is also in docs/report.md under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since the first version of this deck: the 50-epoch model on full frames, a part-1-only 50-epoch run, S2Net, and the wider search for dropped airports. The PlanesNet data branch holds a 93 MB zip that should not be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1A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035040" cy="20116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3749040"/>
            <a:ext cx="5852160" cy="17373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E1A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011680" y="2514600"/>
            <a:ext cx="9418320" cy="9144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2011680" y="3474720"/>
            <a:ext cx="941832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52514E"/>
                </a:solidFill>
              </a:rPr>
              <a:t>Detecting aircraft in flight · PlanesNet detector review</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E1A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EA"/>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035040" cy="2011680"/>
          </a:xfrm>
          <a:prstGeom prst="rect">
            <a:avLst/>
          </a:prstGeom>
          <a:noFill/>
          <a:ln/>
        </p:spPr>
        <p:txBody>
          <a:bodyPr wrap="square" lIns="0" tIns="0" rIns="0" bIns="0" rtlCol="0" anchor="b"/>
          <a:lstStyle/>
          <a:p>
            <a:pPr indent="0" marL="0">
              <a:buNone/>
            </a:pPr>
            <a:r>
              <a:rPr lang="en-US" sz="4400" b="1" dirty="0">
                <a:solidFill>
                  <a:schemeClr val="bg1"/>
                </a:solidFill>
              </a:rPr>
              <a:t>Detecting aircraft in flight</a:t>
            </a:r>
            <a:endParaRPr lang="en-US" sz="4400" dirty="0"/>
          </a:p>
        </p:txBody>
      </p:sp>
      <p:sp>
        <p:nvSpPr>
          <p:cNvPr id="3" name="Text 0"/>
          <p:cNvSpPr/>
          <p:nvPr>
            <p:ph idx="101" type="body" hasCustomPrompt="1"/>
          </p:nvPr>
        </p:nvSpPr>
        <p:spPr>
          <a:xfrm>
            <a:off x="548640" y="3749040"/>
            <a:ext cx="5852160" cy="1737360"/>
          </a:xfrm>
          <a:prstGeom prst="rect">
            <a:avLst/>
          </a:prstGeom>
          <a:noFill/>
          <a:ln/>
        </p:spPr>
        <p:txBody>
          <a:bodyPr wrap="square" lIns="0" tIns="0" rIns="0" bIns="0" rtlCol="0" anchor="t"/>
          <a:lstStyle/>
          <a:p>
            <a:pPr indent="0" marL="0">
              <a:buNone/>
            </a:pPr>
            <a:r>
              <a:rPr lang="en-US" sz="1800" dirty="0">
                <a:solidFill>
                  <a:schemeClr val="bg2"/>
                </a:solidFill>
              </a:rPr>
              <a:t>From a parked-plane classifier to satellite and sky detectors, measured on real aircraft in flight</a:t>
            </a:r>
            <a:endParaRPr lang="en-US" sz="1800" dirty="0"/>
          </a:p>
          <a:p>
            <a:pPr indent="0" marL="0">
              <a:buNone/>
            </a:pPr>
            <a:r>
              <a:rPr lang="en-US" sz="1000" dirty="0">
                <a:solidFill>
                  <a:schemeClr val="bg2"/>
                </a:solidFill>
              </a:rPr>
              <a:t> </a:t>
            </a:r>
            <a:endParaRPr lang="en-US" sz="1800" dirty="0"/>
          </a:p>
          <a:p>
            <a:pPr indent="0" marL="0">
              <a:buNone/>
            </a:pPr>
            <a:r>
              <a:rPr lang="en-US" sz="1400" dirty="0">
                <a:solidFill>
                  <a:srgbClr val="C9D6EA"/>
                </a:solidFill>
              </a:rPr>
              <a:t>Rohan Shenoy · October 2026</a:t>
            </a:r>
            <a:endParaRPr lang="en-US" sz="1800" dirty="0"/>
          </a:p>
        </p:txBody>
      </p:sp>
      <p:pic>
        <p:nvPicPr>
          <p:cNvPr id="4" name="Title image" descr="Aircraft in flight on Sentinel-2 at ten airports">    </p:cNvPr>
          <p:cNvPicPr>
            <a:picLocks noChangeAspect="1"/>
          </p:cNvPicPr>
          <p:nvPr/>
        </p:nvPicPr>
        <p:blipFill>
          <a:blip r:embed="rId1"/>
          <a:stretch>
            <a:fillRect/>
          </a:stretch>
        </p:blipFill>
        <p:spPr>
          <a:xfrm>
            <a:off x="6903720" y="1965960"/>
            <a:ext cx="4754880" cy="1743630"/>
          </a:xfrm>
          <a:prstGeom prst="rect">
            <a:avLst/>
          </a:prstGeom>
        </p:spPr>
      </p:pic>
      <p:sp>
        <p:nvSpPr>
          <p:cNvPr id="5" name="Title image caption"/>
          <p:cNvSpPr txBox="1"/>
          <p:nvPr/>
        </p:nvSpPr>
        <p:spPr>
          <a:xfrm>
            <a:off x="6903720" y="3801030"/>
            <a:ext cx="4754880" cy="457200"/>
          </a:xfrm>
          <a:prstGeom prst="rect">
            <a:avLst/>
          </a:prstGeom>
          <a:noFill/>
          <a:ln/>
        </p:spPr>
        <p:txBody>
          <a:bodyPr wrap="square" lIns="0" tIns="0" rIns="0" bIns="0" rtlCol="0" anchor="ctr"/>
          <a:lstStyle/>
          <a:p>
            <a:pPr indent="0" marL="0">
              <a:buNone/>
            </a:pPr>
            <a:r>
              <a:rPr lang="en-US" sz="1200" dirty="0">
                <a:solidFill>
                  <a:srgbClr val="C9D6EA"/>
                </a:solidFill>
              </a:rPr>
              <a:t>Aircraft in flight on Sentinel-2, 10 m pixels: each shows as blue, green and red copies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Where we ended up</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Both detectors now have real test sets large enough to trust</a:t>
            </a:r>
            <a:endParaRPr lang="en-US" sz="1800" dirty="0"/>
          </a:p>
        </p:txBody>
      </p:sp>
      <p:sp>
        <p:nvSpPr>
          <p:cNvPr id="5" name="Stat card"/>
          <p:cNvSpPr/>
          <p:nvPr/>
        </p:nvSpPr>
        <p:spPr>
          <a:xfrm>
            <a:off x="548640" y="1965960"/>
            <a:ext cx="2567864" cy="2743200"/>
          </a:xfrm>
          <a:prstGeom prst="roundRect">
            <a:avLst>
              <a:gd name="adj" fmla="val 2849"/>
            </a:avLst>
          </a:prstGeom>
          <a:solidFill>
            <a:schemeClr val="bg2"/>
          </a:solidFill>
          <a:ln/>
        </p:spPr>
      </p:sp>
      <p:sp>
        <p:nvSpPr>
          <p:cNvPr id="6" name="Stat value"/>
          <p:cNvSpPr txBox="1"/>
          <p:nvPr/>
        </p:nvSpPr>
        <p:spPr>
          <a:xfrm>
            <a:off x="777240" y="2148840"/>
            <a:ext cx="2110664"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0.80</a:t>
            </a:r>
            <a:endParaRPr lang="en-US" sz="4800" dirty="0"/>
          </a:p>
        </p:txBody>
      </p:sp>
      <p:sp>
        <p:nvSpPr>
          <p:cNvPr id="7" name="Stat label"/>
          <p:cNvSpPr txBox="1"/>
          <p:nvPr/>
        </p:nvSpPr>
        <p:spPr>
          <a:xfrm>
            <a:off x="777240" y="3081528"/>
            <a:ext cx="2110664" cy="1463040"/>
          </a:xfrm>
          <a:prstGeom prst="rect">
            <a:avLst/>
          </a:prstGeom>
          <a:noFill/>
          <a:ln/>
        </p:spPr>
        <p:txBody>
          <a:bodyPr wrap="square" lIns="0" tIns="0" rIns="0" bIns="0" rtlCol="0" anchor="t"/>
          <a:lstStyle/>
          <a:p>
            <a:pPr indent="0" marL="0">
              <a:buNone/>
            </a:pPr>
            <a:r>
              <a:rPr lang="en-US" sz="1400" dirty="0">
                <a:solidFill>
                  <a:schemeClr val="tx1"/>
                </a:solidFill>
              </a:rPr>
              <a:t>Sky detector average precision on 1,708 aircraft from flights it never saw (untrained COCO model: 0.12)</a:t>
            </a:r>
            <a:endParaRPr lang="en-US" sz="1400" dirty="0"/>
          </a:p>
        </p:txBody>
      </p:sp>
      <p:sp>
        <p:nvSpPr>
          <p:cNvPr id="8" name="Stat card"/>
          <p:cNvSpPr/>
          <p:nvPr/>
        </p:nvSpPr>
        <p:spPr>
          <a:xfrm>
            <a:off x="3390824" y="1965960"/>
            <a:ext cx="2567864" cy="2743200"/>
          </a:xfrm>
          <a:prstGeom prst="roundRect">
            <a:avLst>
              <a:gd name="adj" fmla="val 2849"/>
            </a:avLst>
          </a:prstGeom>
          <a:solidFill>
            <a:schemeClr val="bg2"/>
          </a:solidFill>
          <a:ln/>
        </p:spPr>
      </p:sp>
      <p:sp>
        <p:nvSpPr>
          <p:cNvPr id="9" name="Stat value"/>
          <p:cNvSpPr txBox="1"/>
          <p:nvPr/>
        </p:nvSpPr>
        <p:spPr>
          <a:xfrm>
            <a:off x="3619424" y="2148840"/>
            <a:ext cx="2110664" cy="86868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18 of 19</a:t>
            </a:r>
            <a:endParaRPr lang="en-US" sz="4400" dirty="0"/>
          </a:p>
        </p:txBody>
      </p:sp>
      <p:sp>
        <p:nvSpPr>
          <p:cNvPr id="10" name="Stat label"/>
          <p:cNvSpPr txBox="1"/>
          <p:nvPr/>
        </p:nvSpPr>
        <p:spPr>
          <a:xfrm>
            <a:off x="3619424" y="3081528"/>
            <a:ext cx="2110664" cy="1463040"/>
          </a:xfrm>
          <a:prstGeom prst="rect">
            <a:avLst/>
          </a:prstGeom>
          <a:noFill/>
          <a:ln/>
        </p:spPr>
        <p:txBody>
          <a:bodyPr wrap="square" lIns="0" tIns="0" rIns="0" bIns="0" rtlCol="0" anchor="t"/>
          <a:lstStyle/>
          <a:p>
            <a:pPr indent="0" marL="0">
              <a:buNone/>
            </a:pPr>
            <a:r>
              <a:rPr lang="en-US" sz="1400" dirty="0">
                <a:solidFill>
                  <a:schemeClr val="tx1"/>
                </a:solidFill>
              </a:rPr>
              <a:t>aircraft found by the new S2Net in an independent Sentinel-2 set, at 5% clutter false alarms (PlaneNet: 5)</a:t>
            </a:r>
            <a:endParaRPr lang="en-US" sz="1400" dirty="0"/>
          </a:p>
        </p:txBody>
      </p:sp>
      <p:sp>
        <p:nvSpPr>
          <p:cNvPr id="11" name="Stat card"/>
          <p:cNvSpPr/>
          <p:nvPr/>
        </p:nvSpPr>
        <p:spPr>
          <a:xfrm>
            <a:off x="6233008" y="1965960"/>
            <a:ext cx="2567864" cy="2743200"/>
          </a:xfrm>
          <a:prstGeom prst="roundRect">
            <a:avLst>
              <a:gd name="adj" fmla="val 2849"/>
            </a:avLst>
          </a:prstGeom>
          <a:solidFill>
            <a:schemeClr val="bg2"/>
          </a:solidFill>
          <a:ln/>
        </p:spPr>
      </p:sp>
      <p:sp>
        <p:nvSpPr>
          <p:cNvPr id="12" name="Stat value"/>
          <p:cNvSpPr txBox="1"/>
          <p:nvPr/>
        </p:nvSpPr>
        <p:spPr>
          <a:xfrm>
            <a:off x="6461608" y="2148840"/>
            <a:ext cx="2110664"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6.6× | 49×</a:t>
            </a:r>
            <a:endParaRPr lang="en-US" sz="4000" dirty="0"/>
          </a:p>
        </p:txBody>
      </p:sp>
      <p:sp>
        <p:nvSpPr>
          <p:cNvPr id="13" name="Stat label"/>
          <p:cNvSpPr txBox="1"/>
          <p:nvPr/>
        </p:nvSpPr>
        <p:spPr>
          <a:xfrm>
            <a:off x="6461608" y="3081528"/>
            <a:ext cx="2110664" cy="1463040"/>
          </a:xfrm>
          <a:prstGeom prst="rect">
            <a:avLst/>
          </a:prstGeom>
          <a:noFill/>
          <a:ln/>
        </p:spPr>
        <p:txBody>
          <a:bodyPr wrap="square" lIns="0" tIns="0" rIns="0" bIns="0" rtlCol="0" anchor="t"/>
          <a:lstStyle/>
          <a:p>
            <a:pPr indent="0" marL="0">
              <a:buNone/>
            </a:pPr>
            <a:r>
              <a:rPr lang="en-US" sz="1400" dirty="0">
                <a:solidFill>
                  <a:schemeClr val="tx1"/>
                </a:solidFill>
              </a:rPr>
              <a:t>Larger real test sets: sky 260 → 1,708 aircraft; satellite 19 → 927 aircraft</a:t>
            </a:r>
            <a:endParaRPr lang="en-US" sz="1400" dirty="0"/>
          </a:p>
        </p:txBody>
      </p:sp>
      <p:sp>
        <p:nvSpPr>
          <p:cNvPr id="14" name="Stat card"/>
          <p:cNvSpPr/>
          <p:nvPr/>
        </p:nvSpPr>
        <p:spPr>
          <a:xfrm>
            <a:off x="9075191" y="1965960"/>
            <a:ext cx="2567864" cy="2743200"/>
          </a:xfrm>
          <a:prstGeom prst="roundRect">
            <a:avLst>
              <a:gd name="adj" fmla="val 2849"/>
            </a:avLst>
          </a:prstGeom>
          <a:solidFill>
            <a:schemeClr val="bg2"/>
          </a:solidFill>
          <a:ln/>
        </p:spPr>
      </p:sp>
      <p:sp>
        <p:nvSpPr>
          <p:cNvPr id="15" name="Stat value"/>
          <p:cNvSpPr txBox="1"/>
          <p:nvPr/>
        </p:nvSpPr>
        <p:spPr>
          <a:xfrm>
            <a:off x="9303791" y="2148840"/>
            <a:ext cx="2110664"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6.5×</a:t>
            </a:r>
            <a:endParaRPr lang="en-US" sz="4800" dirty="0"/>
          </a:p>
        </p:txBody>
      </p:sp>
      <p:sp>
        <p:nvSpPr>
          <p:cNvPr id="16" name="Stat label"/>
          <p:cNvSpPr txBox="1"/>
          <p:nvPr/>
        </p:nvSpPr>
        <p:spPr>
          <a:xfrm>
            <a:off x="9303791" y="3081528"/>
            <a:ext cx="2110664" cy="1463040"/>
          </a:xfrm>
          <a:prstGeom prst="rect">
            <a:avLst/>
          </a:prstGeom>
          <a:noFill/>
          <a:ln/>
        </p:spPr>
        <p:txBody>
          <a:bodyPr wrap="square" lIns="0" tIns="0" rIns="0" bIns="0" rtlCol="0" anchor="t"/>
          <a:lstStyle/>
          <a:p>
            <a:pPr indent="0" marL="0">
              <a:buNone/>
            </a:pPr>
            <a:r>
              <a:rPr lang="en-US" sz="1400" dirty="0">
                <a:solidFill>
                  <a:schemeClr val="tx1"/>
                </a:solidFill>
              </a:rPr>
              <a:t>More training data (1,548 → 10,051 crops), 50 epochs on the Mac's GPU</a:t>
            </a:r>
            <a:endParaRPr lang="en-US" sz="1400" dirty="0"/>
          </a:p>
        </p:txBody>
      </p:sp>
      <p:sp>
        <p:nvSpPr>
          <p:cNvPr id="17" name="Caption"/>
          <p:cNvSpPr txBox="1"/>
          <p:nvPr/>
        </p:nvSpPr>
        <p:spPr>
          <a:xfrm>
            <a:off x="548640" y="5029200"/>
            <a:ext cx="11094415" cy="548640"/>
          </a:xfrm>
          <a:prstGeom prst="rect">
            <a:avLst/>
          </a:prstGeom>
          <a:noFill/>
          <a:ln/>
        </p:spPr>
        <p:txBody>
          <a:bodyPr wrap="square" lIns="0" tIns="0" rIns="0" bIns="0" rtlCol="0" anchor="t"/>
          <a:lstStyle/>
          <a:p>
            <a:pPr algn="l" indent="0" marL="0">
              <a:buNone/>
            </a:pPr>
            <a:r>
              <a:rPr lang="en-US" sz="1200" dirty="0">
                <a:solidFill>
                  <a:srgbClr val="52514E"/>
                </a:solidFill>
              </a:rPr>
              <a:t>Average precision: area under the precision-recall curve, matching by centre distance. False alarms: share of 2,134 random background chips scored above 0.5.</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Contents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Seven parts, from the starting point to what to do next</a:t>
            </a:r>
            <a:endParaRPr lang="en-US" sz="1800" dirty="0"/>
          </a:p>
        </p:txBody>
      </p:sp>
      <p:sp>
        <p:nvSpPr>
          <p:cNvPr id="5" name="Agenda badge 1"/>
          <p:cNvSpPr/>
          <p:nvPr/>
        </p:nvSpPr>
        <p:spPr>
          <a:xfrm>
            <a:off x="548640" y="1920240"/>
            <a:ext cx="640080" cy="640080"/>
          </a:xfrm>
          <a:prstGeom prst="ellipse">
            <a:avLst/>
          </a:prstGeom>
          <a:solidFill>
            <a:schemeClr val="accent2"/>
          </a:solidFill>
          <a:ln/>
        </p:spPr>
      </p:sp>
      <p:sp>
        <p:nvSpPr>
          <p:cNvPr id="6" name="Agenda number"/>
          <p:cNvSpPr txBox="1"/>
          <p:nvPr/>
        </p:nvSpPr>
        <p:spPr>
          <a:xfrm>
            <a:off x="548640"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Agenda item"/>
          <p:cNvSpPr txBox="1"/>
          <p:nvPr/>
        </p:nvSpPr>
        <p:spPr>
          <a:xfrm>
            <a:off x="1417320" y="187452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The problem</a:t>
            </a:r>
            <a:endParaRPr lang="en-US" sz="2000" dirty="0"/>
          </a:p>
          <a:p>
            <a:pPr indent="0" marL="0">
              <a:buNone/>
            </a:pPr>
            <a:r>
              <a:rPr lang="en-US" sz="1400" dirty="0">
                <a:solidFill>
                  <a:srgbClr val="52514E"/>
                </a:solidFill>
              </a:rPr>
              <a:t>What the original repo did, and the two viewpoints</a:t>
            </a:r>
            <a:endParaRPr lang="en-US" sz="2000" dirty="0"/>
          </a:p>
        </p:txBody>
      </p:sp>
      <p:sp>
        <p:nvSpPr>
          <p:cNvPr id="8" name="Agenda badge 2"/>
          <p:cNvSpPr/>
          <p:nvPr/>
        </p:nvSpPr>
        <p:spPr>
          <a:xfrm>
            <a:off x="548640" y="2971800"/>
            <a:ext cx="640080" cy="640080"/>
          </a:xfrm>
          <a:prstGeom prst="ellipse">
            <a:avLst/>
          </a:prstGeom>
          <a:solidFill>
            <a:schemeClr val="accent2"/>
          </a:solidFill>
          <a:ln/>
        </p:spPr>
      </p:sp>
      <p:sp>
        <p:nvSpPr>
          <p:cNvPr id="9" name="Agenda number"/>
          <p:cNvSpPr txBox="1"/>
          <p:nvPr/>
        </p:nvSpPr>
        <p:spPr>
          <a:xfrm>
            <a:off x="548640" y="2971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0" name="Agenda item"/>
          <p:cNvSpPr txBox="1"/>
          <p:nvPr/>
        </p:nvSpPr>
        <p:spPr>
          <a:xfrm>
            <a:off x="1417320" y="292608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Data</a:t>
            </a:r>
            <a:endParaRPr lang="en-US" sz="2000" dirty="0"/>
          </a:p>
          <a:p>
            <a:pPr indent="0" marL="0">
              <a:buNone/>
            </a:pPr>
            <a:r>
              <a:rPr lang="en-US" sz="1400" dirty="0">
                <a:solidFill>
                  <a:srgbClr val="52514E"/>
                </a:solidFill>
              </a:rPr>
              <a:t>AOT video, PlanesNet, Sentinel-2; splits and leakage</a:t>
            </a:r>
            <a:endParaRPr lang="en-US" sz="2000" dirty="0"/>
          </a:p>
        </p:txBody>
      </p:sp>
      <p:sp>
        <p:nvSpPr>
          <p:cNvPr id="11" name="Agenda badge 3"/>
          <p:cNvSpPr/>
          <p:nvPr/>
        </p:nvSpPr>
        <p:spPr>
          <a:xfrm>
            <a:off x="548640" y="4023360"/>
            <a:ext cx="640080" cy="640080"/>
          </a:xfrm>
          <a:prstGeom prst="ellipse">
            <a:avLst/>
          </a:prstGeom>
          <a:solidFill>
            <a:schemeClr val="accent2"/>
          </a:solidFill>
          <a:ln/>
        </p:spPr>
      </p:sp>
      <p:sp>
        <p:nvSpPr>
          <p:cNvPr id="12" name="Agenda number"/>
          <p:cNvSpPr txBox="1"/>
          <p:nvPr/>
        </p:nvSpPr>
        <p:spPr>
          <a:xfrm>
            <a:off x="548640" y="4023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3" name="Agenda item"/>
          <p:cNvSpPr txBox="1"/>
          <p:nvPr/>
        </p:nvSpPr>
        <p:spPr>
          <a:xfrm>
            <a:off x="1417320" y="397764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Models</a:t>
            </a:r>
            <a:endParaRPr lang="en-US" sz="2000" dirty="0"/>
          </a:p>
          <a:p>
            <a:pPr indent="0" marL="0">
              <a:buNone/>
            </a:pPr>
            <a:r>
              <a:rPr lang="en-US" sz="1400" dirty="0">
                <a:solidFill>
                  <a:srgbClr val="52514E"/>
                </a:solidFill>
              </a:rPr>
              <a:t>PlaneNet and the YOLO variants</a:t>
            </a:r>
            <a:endParaRPr lang="en-US" sz="2000" dirty="0"/>
          </a:p>
        </p:txBody>
      </p:sp>
      <p:sp>
        <p:nvSpPr>
          <p:cNvPr id="14" name="Agenda badge 4"/>
          <p:cNvSpPr/>
          <p:nvPr/>
        </p:nvSpPr>
        <p:spPr>
          <a:xfrm>
            <a:off x="548640" y="5074920"/>
            <a:ext cx="640080" cy="640080"/>
          </a:xfrm>
          <a:prstGeom prst="ellipse">
            <a:avLst/>
          </a:prstGeom>
          <a:solidFill>
            <a:schemeClr val="accent2"/>
          </a:solidFill>
          <a:ln/>
        </p:spPr>
      </p:sp>
      <p:sp>
        <p:nvSpPr>
          <p:cNvPr id="15" name="Agenda number"/>
          <p:cNvSpPr txBox="1"/>
          <p:nvPr/>
        </p:nvSpPr>
        <p:spPr>
          <a:xfrm>
            <a:off x="548640" y="5074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6" name="Agenda item"/>
          <p:cNvSpPr txBox="1"/>
          <p:nvPr/>
        </p:nvSpPr>
        <p:spPr>
          <a:xfrm>
            <a:off x="1417320" y="502920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Training</a:t>
            </a:r>
            <a:endParaRPr lang="en-US" sz="2000" dirty="0"/>
          </a:p>
          <a:p>
            <a:pPr indent="0" marL="0">
              <a:buNone/>
            </a:pPr>
            <a:r>
              <a:rPr lang="en-US" sz="1400" dirty="0">
                <a:solidFill>
                  <a:srgbClr val="52514E"/>
                </a:solidFill>
              </a:rPr>
              <a:t>12 epochs on CPU, then 50 epochs on the Apple GPU</a:t>
            </a:r>
            <a:endParaRPr lang="en-US" sz="2000" dirty="0"/>
          </a:p>
        </p:txBody>
      </p:sp>
      <p:sp>
        <p:nvSpPr>
          <p:cNvPr id="17" name="Agenda badge 5"/>
          <p:cNvSpPr/>
          <p:nvPr/>
        </p:nvSpPr>
        <p:spPr>
          <a:xfrm>
            <a:off x="6324448" y="1920240"/>
            <a:ext cx="640080" cy="640080"/>
          </a:xfrm>
          <a:prstGeom prst="ellipse">
            <a:avLst/>
          </a:prstGeom>
          <a:solidFill>
            <a:schemeClr val="accent2"/>
          </a:solidFill>
          <a:ln/>
        </p:spPr>
      </p:sp>
      <p:sp>
        <p:nvSpPr>
          <p:cNvPr id="18" name="Agenda number"/>
          <p:cNvSpPr txBox="1"/>
          <p:nvPr/>
        </p:nvSpPr>
        <p:spPr>
          <a:xfrm>
            <a:off x="6324448"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19" name="Agenda item"/>
          <p:cNvSpPr txBox="1"/>
          <p:nvPr/>
        </p:nvSpPr>
        <p:spPr>
          <a:xfrm>
            <a:off x="7193128" y="187452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Sky results</a:t>
            </a:r>
            <a:endParaRPr lang="en-US" sz="2000" dirty="0"/>
          </a:p>
          <a:p>
            <a:pPr indent="0" marL="0">
              <a:buNone/>
            </a:pPr>
            <a:r>
              <a:rPr lang="en-US" sz="1400" dirty="0">
                <a:solidFill>
                  <a:srgbClr val="52514E"/>
                </a:solidFill>
              </a:rPr>
              <a:t>Validation, a 6.6× larger test set, curves, examples</a:t>
            </a:r>
            <a:endParaRPr lang="en-US" sz="2000" dirty="0"/>
          </a:p>
        </p:txBody>
      </p:sp>
      <p:sp>
        <p:nvSpPr>
          <p:cNvPr id="20" name="Agenda badge 6"/>
          <p:cNvSpPr/>
          <p:nvPr/>
        </p:nvSpPr>
        <p:spPr>
          <a:xfrm>
            <a:off x="6324448" y="2971800"/>
            <a:ext cx="640080" cy="640080"/>
          </a:xfrm>
          <a:prstGeom prst="ellipse">
            <a:avLst/>
          </a:prstGeom>
          <a:solidFill>
            <a:schemeClr val="accent2"/>
          </a:solidFill>
          <a:ln/>
        </p:spPr>
      </p:sp>
      <p:sp>
        <p:nvSpPr>
          <p:cNvPr id="21" name="Agenda number"/>
          <p:cNvSpPr txBox="1"/>
          <p:nvPr/>
        </p:nvSpPr>
        <p:spPr>
          <a:xfrm>
            <a:off x="6324448" y="2971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22" name="Agenda item"/>
          <p:cNvSpPr txBox="1"/>
          <p:nvPr/>
        </p:nvSpPr>
        <p:spPr>
          <a:xfrm>
            <a:off x="7193128" y="292608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Satellite results</a:t>
            </a:r>
            <a:endParaRPr lang="en-US" sz="2000" dirty="0"/>
          </a:p>
          <a:p>
            <a:pPr indent="0" marL="0">
              <a:buNone/>
            </a:pPr>
            <a:r>
              <a:rPr lang="en-US" sz="1400" dirty="0">
                <a:solidFill>
                  <a:srgbClr val="52514E"/>
                </a:solidFill>
              </a:rPr>
              <a:t>Building a 927-aircraft Sentinel-2 test set</a:t>
            </a:r>
            <a:endParaRPr lang="en-US" sz="2000" dirty="0"/>
          </a:p>
        </p:txBody>
      </p:sp>
      <p:sp>
        <p:nvSpPr>
          <p:cNvPr id="23" name="Agenda badge 7"/>
          <p:cNvSpPr/>
          <p:nvPr/>
        </p:nvSpPr>
        <p:spPr>
          <a:xfrm>
            <a:off x="6324448" y="4023360"/>
            <a:ext cx="640080" cy="640080"/>
          </a:xfrm>
          <a:prstGeom prst="ellipse">
            <a:avLst/>
          </a:prstGeom>
          <a:solidFill>
            <a:schemeClr val="accent2"/>
          </a:solidFill>
          <a:ln/>
        </p:spPr>
      </p:sp>
      <p:sp>
        <p:nvSpPr>
          <p:cNvPr id="24" name="Agenda number"/>
          <p:cNvSpPr txBox="1"/>
          <p:nvPr/>
        </p:nvSpPr>
        <p:spPr>
          <a:xfrm>
            <a:off x="6324448" y="4023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7</a:t>
            </a:r>
            <a:endParaRPr lang="en-US" sz="2200" dirty="0"/>
          </a:p>
        </p:txBody>
      </p:sp>
      <p:sp>
        <p:nvSpPr>
          <p:cNvPr id="25" name="Agenda item"/>
          <p:cNvSpPr txBox="1"/>
          <p:nvPr/>
        </p:nvSpPr>
        <p:spPr>
          <a:xfrm>
            <a:off x="7193128" y="3977640"/>
            <a:ext cx="4404208" cy="777240"/>
          </a:xfrm>
          <a:prstGeom prst="rect">
            <a:avLst/>
          </a:prstGeom>
          <a:noFill/>
          <a:ln/>
        </p:spPr>
        <p:txBody>
          <a:bodyPr wrap="square" lIns="0" tIns="0" rIns="0" bIns="0" rtlCol="0" anchor="ctr"/>
          <a:lstStyle/>
          <a:p>
            <a:pPr indent="0" marL="0">
              <a:buNone/>
            </a:pPr>
            <a:r>
              <a:rPr lang="en-US" sz="2000" b="1" dirty="0">
                <a:solidFill>
                  <a:schemeClr val="tx1"/>
                </a:solidFill>
              </a:rPr>
              <a:t>Repository and next steps</a:t>
            </a:r>
            <a:endParaRPr lang="en-US" sz="2000" dirty="0"/>
          </a:p>
          <a:p>
            <a:pPr indent="0" marL="0">
              <a:buNone/>
            </a:pPr>
            <a:r>
              <a:rPr lang="en-US" sz="1400" dirty="0">
                <a:solidFill>
                  <a:srgbClr val="52514E"/>
                </a:solidFill>
              </a:rPr>
              <a:t>Fixes, reproducibility, limitations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1</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The problem</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The repo classified parked aircraft; we needed aircraft in flight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Starting point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Data, model and detector all assumed aircraft parked on concrete</a:t>
            </a:r>
            <a:endParaRPr lang="en-US" sz="1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1371600"/>
                <a:gridCol w="4663440"/>
                <a:gridCol w="5056632"/>
              </a:tblGrid>
              <a:tr h="411480">
                <a:tc>
                  <a:txBody>
                    <a:bodyPr/>
                    <a:lstStyle/>
                    <a:p>
                      <a:pPr indent="0" marL="0">
                        <a:buNone/>
                      </a:pPr>
                      <a:r>
                        <a:rPr lang="en-US" sz="1500" b="1" dirty="0">
                          <a:solidFill>
                            <a:schemeClr val="bg1"/>
                          </a:solidFill>
                        </a:rPr>
                        <a:t>Part</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Original</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Problem for aircraft in flight</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500" dirty="0">
                          <a:solidFill>
                            <a:schemeClr val="tx1"/>
                          </a:solidFill>
                        </a:rPr>
                        <a:t>Data</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PlanesNet: 32,000 RGB chips, 20×20 px, Planet imagery at about 3 m per pixel</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Almost every aircraft is parked or taxiing; no cloud, sea or haze backgrounds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500" dirty="0">
                          <a:solidFill>
                            <a:schemeClr val="tx1"/>
                          </a:solidFill>
                        </a:rPr>
                        <a:t>Model</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TFLearn CNN: 2 conv blocks and a 512-unit dense layer, normalised with airport statistics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Learns "white cross on grey concrete"; the normalisation is tied to tarmac brightness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500" dirty="0">
                          <a:solidFill>
                            <a:schemeClr val="tx1"/>
                          </a:solidFill>
                        </a:rPr>
                        <a:t>Detector</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20 px window slid in 2 px steps: about 280,000 model calls per scene</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Very slow, no score threshold, no use of motion</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500" dirty="0">
                          <a:solidFill>
                            <a:schemeClr val="tx1"/>
                          </a:solidFill>
                        </a:rPr>
                        <a:t>Stack</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TensorFlow 1, TFLearn, Python 3.5</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No longer installs on current Python</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Two viewpoints, two pipelines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"Aircraft in flight" means looking down from orbit or up from a camera</a:t>
            </a:r>
            <a:endParaRPr lang="en-US" sz="1800" dirty="0"/>
          </a:p>
        </p:txBody>
      </p:sp>
      <p:sp>
        <p:nvSpPr>
          <p:cNvPr id="5" name="Column title"/>
          <p:cNvSpPr txBox="1"/>
          <p:nvPr/>
        </p:nvSpPr>
        <p:spPr>
          <a:xfrm>
            <a:off x="548640" y="1645920"/>
            <a:ext cx="5318608" cy="411480"/>
          </a:xfrm>
          <a:prstGeom prst="rect">
            <a:avLst/>
          </a:prstGeom>
          <a:noFill/>
          <a:ln/>
        </p:spPr>
        <p:txBody>
          <a:bodyPr wrap="square" lIns="0" tIns="0" rIns="0" bIns="0" rtlCol="0" anchor="ctr"/>
          <a:lstStyle/>
          <a:p>
            <a:pPr indent="0" marL="0">
              <a:buNone/>
            </a:pPr>
            <a:r>
              <a:rPr lang="en-US" sz="2000" b="1" dirty="0">
                <a:solidFill>
                  <a:schemeClr val="tx1"/>
                </a:solidFill>
              </a:rPr>
              <a:t>Satellite: looking down</a:t>
            </a:r>
            <a:endParaRPr lang="en-US" sz="2000" dirty="0"/>
          </a:p>
        </p:txBody>
      </p:sp>
      <p:pic>
        <p:nvPicPr>
          <p:cNvPr id="6" name="Sentinel-2 aircraft with colour copies" descr="Sentinel-2 aircraft with colour copies">    </p:cNvPr>
          <p:cNvPicPr>
            <a:picLocks noChangeAspect="1"/>
          </p:cNvPicPr>
          <p:nvPr/>
        </p:nvPicPr>
        <p:blipFill>
          <a:blip r:embed="rId1"/>
          <a:stretch>
            <a:fillRect/>
          </a:stretch>
        </p:blipFill>
        <p:spPr>
          <a:xfrm>
            <a:off x="548640" y="2148840"/>
            <a:ext cx="5318608" cy="2864086"/>
          </a:xfrm>
          <a:prstGeom prst="rect">
            <a:avLst/>
          </a:prstGeom>
        </p:spPr>
      </p:pic>
      <p:sp>
        <p:nvSpPr>
          <p:cNvPr id="7" name="Bullets"/>
          <p:cNvSpPr txBox="1"/>
          <p:nvPr/>
        </p:nvSpPr>
        <p:spPr>
          <a:xfrm>
            <a:off x="548640" y="5195806"/>
            <a:ext cx="5318608" cy="1188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Planet and Sentinel-2 RGB, 3 to 10 m per pixel</a:t>
            </a:r>
            <a:endParaRPr lang="en-US" sz="1400" dirty="0"/>
          </a:p>
          <a:p>
            <a:pPr marL="342900" indent="-342900">
              <a:spcAft>
                <a:spcPts val="800"/>
              </a:spcAft>
              <a:buSzPct val="100000"/>
              <a:buChar char="•"/>
            </a:pPr>
            <a:r>
              <a:rPr lang="en-US" sz="1400" dirty="0">
                <a:solidFill>
                  <a:schemeClr val="tx1"/>
                </a:solidFill>
              </a:rPr>
              <a:t>Aircraft are a few pixels; motion splits them into blue, green and red copies</a:t>
            </a:r>
            <a:endParaRPr lang="en-US" sz="1400" dirty="0"/>
          </a:p>
          <a:p>
            <a:pPr marL="342900" indent="-342900">
              <a:spcAft>
                <a:spcPts val="800"/>
              </a:spcAft>
              <a:buSzPct val="100000"/>
              <a:buChar char="•"/>
            </a:pPr>
            <a:r>
              <a:rPr lang="en-US" sz="1400" dirty="0">
                <a:solidFill>
                  <a:schemeClr val="tx1"/>
                </a:solidFill>
              </a:rPr>
              <a:t>Code: satellite/ (PlaneNet)</a:t>
            </a:r>
            <a:endParaRPr lang="en-US" sz="1400" dirty="0"/>
          </a:p>
        </p:txBody>
      </p:sp>
      <p:sp>
        <p:nvSpPr>
          <p:cNvPr id="8" name="Column title"/>
          <p:cNvSpPr txBox="1"/>
          <p:nvPr/>
        </p:nvSpPr>
        <p:spPr>
          <a:xfrm>
            <a:off x="6324448" y="1645920"/>
            <a:ext cx="5318608" cy="411480"/>
          </a:xfrm>
          <a:prstGeom prst="rect">
            <a:avLst/>
          </a:prstGeom>
          <a:noFill/>
          <a:ln/>
        </p:spPr>
        <p:txBody>
          <a:bodyPr wrap="square" lIns="0" tIns="0" rIns="0" bIns="0" rtlCol="0" anchor="ctr"/>
          <a:lstStyle/>
          <a:p>
            <a:pPr indent="0" marL="0">
              <a:buNone/>
            </a:pPr>
            <a:r>
              <a:rPr lang="en-US" sz="2000" b="1" dirty="0">
                <a:solidFill>
                  <a:schemeClr val="tx1"/>
                </a:solidFill>
              </a:rPr>
              <a:t>Sky: cameras looking at aircraft</a:t>
            </a:r>
            <a:endParaRPr lang="en-US" sz="2000" dirty="0"/>
          </a:p>
        </p:txBody>
      </p:sp>
      <p:pic>
        <p:nvPicPr>
          <p:cNvPr id="9" name="Helicopter in three frames and stacked" descr="Helicopter in three frames and stacked">    </p:cNvPr>
          <p:cNvPicPr>
            <a:picLocks noChangeAspect="1"/>
          </p:cNvPicPr>
          <p:nvPr/>
        </p:nvPicPr>
        <p:blipFill>
          <a:blip r:embed="rId2"/>
          <a:stretch>
            <a:fillRect/>
          </a:stretch>
        </p:blipFill>
        <p:spPr>
          <a:xfrm>
            <a:off x="6324448" y="2148840"/>
            <a:ext cx="5318608" cy="1481919"/>
          </a:xfrm>
          <a:prstGeom prst="rect">
            <a:avLst/>
          </a:prstGeom>
        </p:spPr>
      </p:pic>
      <p:sp>
        <p:nvSpPr>
          <p:cNvPr id="10" name="Bullets"/>
          <p:cNvSpPr txBox="1"/>
          <p:nvPr/>
        </p:nvSpPr>
        <p:spPr>
          <a:xfrm>
            <a:off x="6324448" y="3813639"/>
            <a:ext cx="5318608"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AOT: 2448×2048 greyscale video from aircraft-mounted cameras, about 10 frames per second</a:t>
            </a:r>
            <a:endParaRPr lang="en-US" sz="1400" dirty="0"/>
          </a:p>
          <a:p>
            <a:pPr marL="342900" indent="-342900">
              <a:spcAft>
                <a:spcPts val="800"/>
              </a:spcAft>
              <a:buSzPct val="100000"/>
              <a:buChar char="•"/>
            </a:pPr>
            <a:r>
              <a:rPr lang="en-US" sz="1400" dirty="0">
                <a:solidFill>
                  <a:schemeClr val="tx1"/>
                </a:solidFill>
              </a:rPr>
              <a:t>Most aircraft are under 20 px, against sky or ground clutter</a:t>
            </a:r>
            <a:endParaRPr lang="en-US" sz="1400" dirty="0"/>
          </a:p>
          <a:p>
            <a:pPr marL="342900" indent="-342900">
              <a:spcAft>
                <a:spcPts val="800"/>
              </a:spcAft>
              <a:buSzPct val="100000"/>
              <a:buChar char="•"/>
            </a:pPr>
            <a:r>
              <a:rPr lang="en-US" sz="1400" dirty="0">
                <a:solidFill>
                  <a:schemeClr val="tx1"/>
                </a:solidFill>
              </a:rPr>
              <a:t>Code: sky/ (YOLO11 fine-tuning)</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2</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Data</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Real airborne video for the sky, PlanesNet plus synthetic samples and real Sentinel-2 for the satellite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Datasets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Each pipeline is trained on one source and tested on real aircraft in flight</a:t>
            </a:r>
            <a:endParaRPr lang="en-US" sz="18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743200"/>
                <a:gridCol w="2834640"/>
                <a:gridCol w="3474720"/>
                <a:gridCol w="2039112"/>
              </a:tblGrid>
              <a:tr h="0">
                <a:tc>
                  <a:txBody>
                    <a:bodyPr/>
                    <a:lstStyle/>
                    <a:p>
                      <a:pPr indent="0" marL="0">
                        <a:buNone/>
                      </a:pPr>
                      <a:r>
                        <a:rPr lang="en-US" sz="1400" b="1" dirty="0">
                          <a:solidFill>
                            <a:schemeClr val="bg1"/>
                          </a:solidFill>
                        </a:rPr>
                        <a:t>Dataset</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Used for</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Amount used</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Access</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400" dirty="0">
                          <a:solidFill>
                            <a:schemeClr val="tx1"/>
                          </a:solidFill>
                        </a:rPr>
                        <a:t>AOT (Amazon Prime Air), parts 1-3</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Sky training, validation and test</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10,051 training crops, 540 validation, 1,813 test (part 2)</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Public S3, no account</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dirty="0">
                          <a:solidFill>
                            <a:schemeClr val="tx1"/>
                          </a:solidFill>
                        </a:rPr>
                        <a:t>PlanesNet</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Satellite training: aircraft seen from above</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32,000 chips (8,000 aircraft)</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Kaggle; data branch</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dirty="0">
                          <a:solidFill>
                            <a:schemeClr val="tx1"/>
                          </a:solidFill>
                        </a:rPr>
                        <a:t>Sentinel-2 L2A (10 m)</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Satellite test sets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19 aircraft (s2_airborne), 927 aircraft (s2_flying)</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AWS COGs via Earth Search</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dirty="0">
                          <a:solidFill>
                            <a:schemeClr val="tx1"/>
                          </a:solidFill>
                        </a:rPr>
                        <a:t>Flying Airplanes labels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Guide for the 927-aircraft test set</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1,782 labels at 15 European airports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GitHub, MIT licence</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dirty="0">
                          <a:solidFill>
                            <a:schemeClr val="tx1"/>
                          </a:solidFill>
                        </a:rPr>
                        <a:t>COCO yolo11n / yolo11s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Starting weights and baseline</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Pretrained "airplane" class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Ultralytics releases</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AOT crops for the sky detector</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Native-resolution crops keep 6 px aircraft visible to YOLO</a:t>
            </a:r>
            <a:endParaRPr lang="en-US" sz="1800" dirty="0"/>
          </a:p>
        </p:txBody>
      </p:sp>
      <p:sp>
        <p:nvSpPr>
          <p:cNvPr id="5" name="Step card"/>
          <p:cNvSpPr/>
          <p:nvPr/>
        </p:nvSpPr>
        <p:spPr>
          <a:xfrm>
            <a:off x="548640" y="1920240"/>
            <a:ext cx="1999427" cy="2377440"/>
          </a:xfrm>
          <a:prstGeom prst="roundRect">
            <a:avLst>
              <a:gd name="adj" fmla="val 3659"/>
            </a:avLst>
          </a:prstGeom>
          <a:solidFill>
            <a:schemeClr val="bg2"/>
          </a:solidFill>
          <a:ln/>
        </p:spPr>
      </p:sp>
      <p:sp>
        <p:nvSpPr>
          <p:cNvPr id="6" name="Step badge"/>
          <p:cNvSpPr/>
          <p:nvPr/>
        </p:nvSpPr>
        <p:spPr>
          <a:xfrm>
            <a:off x="731520" y="2103120"/>
            <a:ext cx="502920" cy="502920"/>
          </a:xfrm>
          <a:prstGeom prst="ellipse">
            <a:avLst/>
          </a:prstGeom>
          <a:solidFill>
            <a:schemeClr val="accent1"/>
          </a:solidFill>
          <a:ln/>
        </p:spPr>
      </p:sp>
      <p:sp>
        <p:nvSpPr>
          <p:cNvPr id="7" name="Step number"/>
          <p:cNvSpPr txBox="1"/>
          <p:nvPr/>
        </p:nvSpPr>
        <p:spPr>
          <a:xfrm>
            <a:off x="731520"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Step text"/>
          <p:cNvSpPr txBox="1"/>
          <p:nvPr/>
        </p:nvSpPr>
        <p:spPr>
          <a:xfrm>
            <a:off x="731520" y="2743200"/>
            <a:ext cx="1633667" cy="1463040"/>
          </a:xfrm>
          <a:prstGeom prst="rect">
            <a:avLst/>
          </a:prstGeom>
          <a:noFill/>
          <a:ln/>
        </p:spPr>
        <p:txBody>
          <a:bodyPr wrap="square" lIns="0" tIns="0" rIns="0" bIns="0" rtlCol="0" anchor="t"/>
          <a:lstStyle/>
          <a:p>
            <a:pPr indent="0" marL="0">
              <a:buNone/>
            </a:pPr>
            <a:r>
              <a:rPr lang="en-US" sz="1600" b="1" dirty="0">
                <a:solidFill>
                  <a:schemeClr val="tx1"/>
                </a:solidFill>
              </a:rPr>
              <a:t>Map classes</a:t>
            </a:r>
            <a:endParaRPr lang="en-US" sz="1600" dirty="0"/>
          </a:p>
          <a:p>
            <a:pPr indent="0" marL="0">
              <a:buNone/>
            </a:pPr>
            <a:r>
              <a:rPr lang="en-US" sz="1300" dirty="0">
                <a:solidFill>
                  <a:schemeClr val="tx1"/>
                </a:solidFill>
              </a:rPr>
              <a:t>Airplane, helicopter, drone are scored; birds and unknown objects are ignored</a:t>
            </a:r>
            <a:endParaRPr lang="en-US" sz="1600" dirty="0"/>
          </a:p>
        </p:txBody>
      </p:sp>
      <p:sp>
        <p:nvSpPr>
          <p:cNvPr id="9" name="Step card"/>
          <p:cNvSpPr/>
          <p:nvPr/>
        </p:nvSpPr>
        <p:spPr>
          <a:xfrm>
            <a:off x="2822387" y="1920240"/>
            <a:ext cx="1999427" cy="2377440"/>
          </a:xfrm>
          <a:prstGeom prst="roundRect">
            <a:avLst>
              <a:gd name="adj" fmla="val 3659"/>
            </a:avLst>
          </a:prstGeom>
          <a:solidFill>
            <a:schemeClr val="bg2"/>
          </a:solidFill>
          <a:ln/>
        </p:spPr>
      </p:sp>
      <p:sp>
        <p:nvSpPr>
          <p:cNvPr id="10" name="Step badge"/>
          <p:cNvSpPr/>
          <p:nvPr/>
        </p:nvSpPr>
        <p:spPr>
          <a:xfrm>
            <a:off x="3005267" y="2103120"/>
            <a:ext cx="502920" cy="502920"/>
          </a:xfrm>
          <a:prstGeom prst="ellipse">
            <a:avLst/>
          </a:prstGeom>
          <a:solidFill>
            <a:schemeClr val="accent1"/>
          </a:solidFill>
          <a:ln/>
        </p:spPr>
      </p:sp>
      <p:sp>
        <p:nvSpPr>
          <p:cNvPr id="11" name="Step number"/>
          <p:cNvSpPr txBox="1"/>
          <p:nvPr/>
        </p:nvSpPr>
        <p:spPr>
          <a:xfrm>
            <a:off x="3005267"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tep text"/>
          <p:cNvSpPr txBox="1"/>
          <p:nvPr/>
        </p:nvSpPr>
        <p:spPr>
          <a:xfrm>
            <a:off x="3005267" y="2743200"/>
            <a:ext cx="1633667" cy="1463040"/>
          </a:xfrm>
          <a:prstGeom prst="rect">
            <a:avLst/>
          </a:prstGeom>
          <a:noFill/>
          <a:ln/>
        </p:spPr>
        <p:txBody>
          <a:bodyPr wrap="square" lIns="0" tIns="0" rIns="0" bIns="0" rtlCol="0" anchor="t"/>
          <a:lstStyle/>
          <a:p>
            <a:pPr indent="0" marL="0">
              <a:buNone/>
            </a:pPr>
            <a:r>
              <a:rPr lang="en-US" sz="1600" b="1" dirty="0">
                <a:solidFill>
                  <a:schemeClr val="tx1"/>
                </a:solidFill>
              </a:rPr>
              <a:t>Pick frames</a:t>
            </a:r>
            <a:endParaRPr lang="en-US" sz="1600" dirty="0"/>
          </a:p>
          <a:p>
            <a:pPr indent="0" marL="0">
              <a:buNone/>
            </a:pPr>
            <a:r>
              <a:rPr lang="en-US" sz="1300" dirty="0">
                <a:solidFill>
                  <a:schemeClr val="tx1"/>
                </a:solidFill>
              </a:rPr>
              <a:t>At most 6 per flight, 20+ frames apart, with neighbours t−2 and t+2</a:t>
            </a:r>
            <a:endParaRPr lang="en-US" sz="1600" dirty="0"/>
          </a:p>
        </p:txBody>
      </p:sp>
      <p:sp>
        <p:nvSpPr>
          <p:cNvPr id="13" name="Step card"/>
          <p:cNvSpPr/>
          <p:nvPr/>
        </p:nvSpPr>
        <p:spPr>
          <a:xfrm>
            <a:off x="5096134" y="1920240"/>
            <a:ext cx="1999427" cy="2377440"/>
          </a:xfrm>
          <a:prstGeom prst="roundRect">
            <a:avLst>
              <a:gd name="adj" fmla="val 3659"/>
            </a:avLst>
          </a:prstGeom>
          <a:solidFill>
            <a:schemeClr val="bg2"/>
          </a:solidFill>
          <a:ln/>
        </p:spPr>
      </p:sp>
      <p:sp>
        <p:nvSpPr>
          <p:cNvPr id="14" name="Step badge"/>
          <p:cNvSpPr/>
          <p:nvPr/>
        </p:nvSpPr>
        <p:spPr>
          <a:xfrm>
            <a:off x="5279014" y="2103120"/>
            <a:ext cx="502920" cy="502920"/>
          </a:xfrm>
          <a:prstGeom prst="ellipse">
            <a:avLst/>
          </a:prstGeom>
          <a:solidFill>
            <a:schemeClr val="accent1"/>
          </a:solidFill>
          <a:ln/>
        </p:spPr>
      </p:sp>
      <p:sp>
        <p:nvSpPr>
          <p:cNvPr id="15" name="Step number"/>
          <p:cNvSpPr txBox="1"/>
          <p:nvPr/>
        </p:nvSpPr>
        <p:spPr>
          <a:xfrm>
            <a:off x="5279014"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Step text"/>
          <p:cNvSpPr txBox="1"/>
          <p:nvPr/>
        </p:nvSpPr>
        <p:spPr>
          <a:xfrm>
            <a:off x="5279014" y="2743200"/>
            <a:ext cx="1633667" cy="1463040"/>
          </a:xfrm>
          <a:prstGeom prst="rect">
            <a:avLst/>
          </a:prstGeom>
          <a:noFill/>
          <a:ln/>
        </p:spPr>
        <p:txBody>
          <a:bodyPr wrap="square" lIns="0" tIns="0" rIns="0" bIns="0" rtlCol="0" anchor="t"/>
          <a:lstStyle/>
          <a:p>
            <a:pPr indent="0" marL="0">
              <a:buNone/>
            </a:pPr>
            <a:r>
              <a:rPr lang="en-US" sz="1600" b="1" dirty="0">
                <a:solidFill>
                  <a:schemeClr val="tx1"/>
                </a:solidFill>
              </a:rPr>
              <a:t>Crop 640 px</a:t>
            </a:r>
            <a:endParaRPr lang="en-US" sz="1600" dirty="0"/>
          </a:p>
          <a:p>
            <a:pPr indent="0" marL="0">
              <a:buNone/>
            </a:pPr>
            <a:r>
              <a:rPr lang="en-US" sz="1300" dirty="0">
                <a:solidFill>
                  <a:schemeClr val="tx1"/>
                </a:solidFill>
              </a:rPr>
              <a:t>At native resolution around an aircraft; about 15% empty crops</a:t>
            </a:r>
            <a:endParaRPr lang="en-US" sz="1600" dirty="0"/>
          </a:p>
        </p:txBody>
      </p:sp>
      <p:sp>
        <p:nvSpPr>
          <p:cNvPr id="17" name="Step card"/>
          <p:cNvSpPr/>
          <p:nvPr/>
        </p:nvSpPr>
        <p:spPr>
          <a:xfrm>
            <a:off x="7369881" y="1920240"/>
            <a:ext cx="1999427" cy="2377440"/>
          </a:xfrm>
          <a:prstGeom prst="roundRect">
            <a:avLst>
              <a:gd name="adj" fmla="val 3659"/>
            </a:avLst>
          </a:prstGeom>
          <a:solidFill>
            <a:schemeClr val="bg2"/>
          </a:solidFill>
          <a:ln/>
        </p:spPr>
      </p:sp>
      <p:sp>
        <p:nvSpPr>
          <p:cNvPr id="18" name="Step badge"/>
          <p:cNvSpPr/>
          <p:nvPr/>
        </p:nvSpPr>
        <p:spPr>
          <a:xfrm>
            <a:off x="7552761" y="2103120"/>
            <a:ext cx="502920" cy="502920"/>
          </a:xfrm>
          <a:prstGeom prst="ellipse">
            <a:avLst/>
          </a:prstGeom>
          <a:solidFill>
            <a:schemeClr val="accent1"/>
          </a:solidFill>
          <a:ln/>
        </p:spPr>
      </p:sp>
      <p:sp>
        <p:nvSpPr>
          <p:cNvPr id="19" name="Step number"/>
          <p:cNvSpPr txBox="1"/>
          <p:nvPr/>
        </p:nvSpPr>
        <p:spPr>
          <a:xfrm>
            <a:off x="7552761"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tep text"/>
          <p:cNvSpPr txBox="1"/>
          <p:nvPr/>
        </p:nvSpPr>
        <p:spPr>
          <a:xfrm>
            <a:off x="7552761" y="2743200"/>
            <a:ext cx="1633667" cy="1463040"/>
          </a:xfrm>
          <a:prstGeom prst="rect">
            <a:avLst/>
          </a:prstGeom>
          <a:noFill/>
          <a:ln/>
        </p:spPr>
        <p:txBody>
          <a:bodyPr wrap="square" lIns="0" tIns="0" rIns="0" bIns="0" rtlCol="0" anchor="t"/>
          <a:lstStyle/>
          <a:p>
            <a:pPr indent="0" marL="0">
              <a:buNone/>
            </a:pPr>
            <a:r>
              <a:rPr lang="en-US" sz="1600" b="1" dirty="0">
                <a:solidFill>
                  <a:schemeClr val="tx1"/>
                </a:solidFill>
              </a:rPr>
              <a:t>Stack 3 frames</a:t>
            </a:r>
            <a:endParaRPr lang="en-US" sz="1600" dirty="0"/>
          </a:p>
          <a:p>
            <a:pPr indent="0" marL="0">
              <a:buNone/>
            </a:pPr>
            <a:r>
              <a:rPr lang="en-US" sz="1300" dirty="0">
                <a:solidFill>
                  <a:schemeClr val="tx1"/>
                </a:solidFill>
              </a:rPr>
              <a:t>t−2, t, t+2 aligned by phase correlation, stored as colour channels</a:t>
            </a:r>
            <a:endParaRPr lang="en-US" sz="1600" dirty="0"/>
          </a:p>
        </p:txBody>
      </p:sp>
      <p:sp>
        <p:nvSpPr>
          <p:cNvPr id="21" name="Step card"/>
          <p:cNvSpPr/>
          <p:nvPr/>
        </p:nvSpPr>
        <p:spPr>
          <a:xfrm>
            <a:off x="9643628" y="1920240"/>
            <a:ext cx="1999427" cy="2377440"/>
          </a:xfrm>
          <a:prstGeom prst="roundRect">
            <a:avLst>
              <a:gd name="adj" fmla="val 3659"/>
            </a:avLst>
          </a:prstGeom>
          <a:solidFill>
            <a:schemeClr val="bg2"/>
          </a:solidFill>
          <a:ln/>
        </p:spPr>
      </p:sp>
      <p:sp>
        <p:nvSpPr>
          <p:cNvPr id="22" name="Step badge"/>
          <p:cNvSpPr/>
          <p:nvPr/>
        </p:nvSpPr>
        <p:spPr>
          <a:xfrm>
            <a:off x="9826508" y="2103120"/>
            <a:ext cx="502920" cy="502920"/>
          </a:xfrm>
          <a:prstGeom prst="ellipse">
            <a:avLst/>
          </a:prstGeom>
          <a:solidFill>
            <a:schemeClr val="accent1"/>
          </a:solidFill>
          <a:ln/>
        </p:spPr>
      </p:sp>
      <p:sp>
        <p:nvSpPr>
          <p:cNvPr id="23" name="Step number"/>
          <p:cNvSpPr txBox="1"/>
          <p:nvPr/>
        </p:nvSpPr>
        <p:spPr>
          <a:xfrm>
            <a:off x="9826508"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Step text"/>
          <p:cNvSpPr txBox="1"/>
          <p:nvPr/>
        </p:nvSpPr>
        <p:spPr>
          <a:xfrm>
            <a:off x="9826508" y="2743200"/>
            <a:ext cx="1633667" cy="1463040"/>
          </a:xfrm>
          <a:prstGeom prst="rect">
            <a:avLst/>
          </a:prstGeom>
          <a:noFill/>
          <a:ln/>
        </p:spPr>
        <p:txBody>
          <a:bodyPr wrap="square" lIns="0" tIns="0" rIns="0" bIns="0" rtlCol="0" anchor="t"/>
          <a:lstStyle/>
          <a:p>
            <a:pPr indent="0" marL="0">
              <a:buNone/>
            </a:pPr>
            <a:r>
              <a:rPr lang="en-US" sz="1600" b="1" dirty="0">
                <a:solidFill>
                  <a:schemeClr val="tx1"/>
                </a:solidFill>
              </a:rPr>
              <a:t>Split by flight</a:t>
            </a:r>
            <a:endParaRPr lang="en-US" sz="1600" dirty="0"/>
          </a:p>
          <a:p>
            <a:pPr indent="0" marL="0">
              <a:buNone/>
            </a:pPr>
            <a:r>
              <a:rPr lang="en-US" sz="1300" dirty="0">
                <a:solidFill>
                  <a:schemeClr val="tx1"/>
                </a:solidFill>
              </a:rPr>
              <a:t>md5 of the flight id: 20% of flights held out, never split by frame</a:t>
            </a:r>
            <a:endParaRPr lang="en-US" sz="1600" dirty="0"/>
          </a:p>
        </p:txBody>
      </p:sp>
      <p:sp>
        <p:nvSpPr>
          <p:cNvPr id="25" name="Fact"/>
          <p:cNvSpPr txBox="1"/>
          <p:nvPr/>
        </p:nvSpPr>
        <p:spPr>
          <a:xfrm>
            <a:off x="548640" y="4663440"/>
            <a:ext cx="3515258" cy="7315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1.8 M  </a:t>
            </a:r>
            <a:pPr indent="0" marL="0">
              <a:buNone/>
            </a:pPr>
            <a:r>
              <a:rPr lang="en-US" sz="1500" dirty="0">
                <a:solidFill>
                  <a:schemeClr val="tx1"/>
                </a:solidFill>
              </a:rPr>
              <a:t>label rows in part 1 alone</a:t>
            </a:r>
            <a:endParaRPr lang="en-US" sz="3000" dirty="0"/>
          </a:p>
        </p:txBody>
      </p:sp>
      <p:sp>
        <p:nvSpPr>
          <p:cNvPr id="26" name="Fact"/>
          <p:cNvSpPr txBox="1"/>
          <p:nvPr/>
        </p:nvSpPr>
        <p:spPr>
          <a:xfrm>
            <a:off x="4338218" y="4663440"/>
            <a:ext cx="3515258" cy="7315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&lt; 10 px  </a:t>
            </a:r>
            <a:pPr indent="0" marL="0">
              <a:buNone/>
            </a:pPr>
            <a:r>
              <a:rPr lang="en-US" sz="1500" dirty="0">
                <a:solidFill>
                  <a:schemeClr val="tx1"/>
                </a:solidFill>
              </a:rPr>
              <a:t>size of 43% of the test aircraft</a:t>
            </a:r>
            <a:endParaRPr lang="en-US" sz="3000" dirty="0"/>
          </a:p>
        </p:txBody>
      </p:sp>
      <p:sp>
        <p:nvSpPr>
          <p:cNvPr id="27" name="Fact"/>
          <p:cNvSpPr txBox="1"/>
          <p:nvPr/>
        </p:nvSpPr>
        <p:spPr>
          <a:xfrm>
            <a:off x="8127797" y="4663440"/>
            <a:ext cx="3515258" cy="7315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~28%  </a:t>
            </a:r>
            <a:pPr indent="0" marL="0">
              <a:buNone/>
            </a:pPr>
            <a:r>
              <a:rPr lang="en-US" sz="1500" dirty="0">
                <a:solidFill>
                  <a:schemeClr val="tx1"/>
                </a:solidFill>
              </a:rPr>
              <a:t>of part 1 frames missing from the bucket</a:t>
            </a:r>
            <a:endParaRPr lang="en-US" sz="3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AOT parts share flights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Part 2 is a clean test set; part 3 is used for training without part 2's flights</a:t>
            </a:r>
            <a:endParaRPr lang="en-US" sz="1800" dirty="0"/>
          </a:p>
        </p:txBody>
      </p:sp>
      <p:sp>
        <p:nvSpPr>
          <p:cNvPr id="5" name="Part 1 box"/>
          <p:cNvSpPr/>
          <p:nvPr/>
        </p:nvSpPr>
        <p:spPr>
          <a:xfrm>
            <a:off x="731520" y="2011680"/>
            <a:ext cx="3017520" cy="1737360"/>
          </a:xfrm>
          <a:prstGeom prst="roundRect">
            <a:avLst>
              <a:gd name="adj" fmla="val 5263"/>
            </a:avLst>
          </a:prstGeom>
          <a:solidFill>
            <a:schemeClr val="bg2"/>
          </a:solidFill>
          <a:ln w="31750">
            <a:solidFill>
              <a:schemeClr val="accent1"/>
            </a:solidFill>
            <a:prstDash val="solid"/>
          </a:ln>
        </p:spPr>
      </p:sp>
      <p:sp>
        <p:nvSpPr>
          <p:cNvPr id="6" name="Part 1 text"/>
          <p:cNvSpPr txBox="1"/>
          <p:nvPr/>
        </p:nvSpPr>
        <p:spPr>
          <a:xfrm>
            <a:off x="960120" y="2103120"/>
            <a:ext cx="2560320" cy="1554480"/>
          </a:xfrm>
          <a:prstGeom prst="rect">
            <a:avLst/>
          </a:prstGeom>
          <a:noFill/>
          <a:ln/>
        </p:spPr>
        <p:txBody>
          <a:bodyPr wrap="square" lIns="0" tIns="0" rIns="0" bIns="0" rtlCol="0" anchor="ctr"/>
          <a:lstStyle/>
          <a:p>
            <a:pPr indent="0" marL="0">
              <a:buNone/>
            </a:pPr>
            <a:r>
              <a:rPr lang="en-US" sz="2200" b="1" dirty="0">
                <a:solidFill>
                  <a:schemeClr val="accent1"/>
                </a:solidFill>
              </a:rPr>
              <a:t>Part 1</a:t>
            </a:r>
            <a:endParaRPr lang="en-US" sz="2200" dirty="0"/>
          </a:p>
          <a:p>
            <a:pPr indent="0" marL="0">
              <a:buNone/>
            </a:pPr>
            <a:r>
              <a:rPr lang="en-US" sz="1600" b="1" dirty="0">
                <a:solidFill>
                  <a:schemeClr val="tx1"/>
                </a:solidFill>
              </a:rPr>
              <a:t>1,311 flights</a:t>
            </a:r>
            <a:endParaRPr lang="en-US" sz="2200" dirty="0"/>
          </a:p>
          <a:p>
            <a:pPr indent="0" marL="0">
              <a:buNone/>
            </a:pPr>
            <a:r>
              <a:rPr lang="en-US" sz="1400" dirty="0">
                <a:solidFill>
                  <a:schemeClr val="tx1"/>
                </a:solidFill>
              </a:rPr>
              <a:t>Training (80%) and validation (20%)</a:t>
            </a:r>
            <a:endParaRPr lang="en-US" sz="2200" dirty="0"/>
          </a:p>
        </p:txBody>
      </p:sp>
      <p:sp>
        <p:nvSpPr>
          <p:cNvPr id="7" name="Part 3 box"/>
          <p:cNvSpPr/>
          <p:nvPr/>
        </p:nvSpPr>
        <p:spPr>
          <a:xfrm>
            <a:off x="4587088" y="2011680"/>
            <a:ext cx="3017520" cy="1737360"/>
          </a:xfrm>
          <a:prstGeom prst="roundRect">
            <a:avLst>
              <a:gd name="adj" fmla="val 5263"/>
            </a:avLst>
          </a:prstGeom>
          <a:solidFill>
            <a:schemeClr val="bg2"/>
          </a:solidFill>
          <a:ln w="31750">
            <a:solidFill>
              <a:schemeClr val="accent3"/>
            </a:solidFill>
            <a:prstDash val="solid"/>
          </a:ln>
        </p:spPr>
      </p:sp>
      <p:sp>
        <p:nvSpPr>
          <p:cNvPr id="8" name="Part 3 text"/>
          <p:cNvSpPr txBox="1"/>
          <p:nvPr/>
        </p:nvSpPr>
        <p:spPr>
          <a:xfrm>
            <a:off x="4815688" y="2103120"/>
            <a:ext cx="2560320" cy="1554480"/>
          </a:xfrm>
          <a:prstGeom prst="rect">
            <a:avLst/>
          </a:prstGeom>
          <a:noFill/>
          <a:ln/>
        </p:spPr>
        <p:txBody>
          <a:bodyPr wrap="square" lIns="0" tIns="0" rIns="0" bIns="0" rtlCol="0" anchor="ctr"/>
          <a:lstStyle/>
          <a:p>
            <a:pPr indent="0" marL="0">
              <a:buNone/>
            </a:pPr>
            <a:r>
              <a:rPr lang="en-US" sz="2200" b="1" dirty="0">
                <a:solidFill>
                  <a:schemeClr val="accent3"/>
                </a:solidFill>
              </a:rPr>
              <a:t>Part 3</a:t>
            </a:r>
            <a:endParaRPr lang="en-US" sz="2200" dirty="0"/>
          </a:p>
          <a:p>
            <a:pPr indent="0" marL="0">
              <a:buNone/>
            </a:pPr>
            <a:r>
              <a:rPr lang="en-US" sz="1600" b="1" dirty="0">
                <a:solidFill>
                  <a:schemeClr val="tx1"/>
                </a:solidFill>
              </a:rPr>
              <a:t>1,531 flights</a:t>
            </a:r>
            <a:endParaRPr lang="en-US" sz="2200" dirty="0"/>
          </a:p>
          <a:p>
            <a:pPr indent="0" marL="0">
              <a:buNone/>
            </a:pPr>
            <a:r>
              <a:rPr lang="en-US" sz="1400" dirty="0">
                <a:solidFill>
                  <a:schemeClr val="tx1"/>
                </a:solidFill>
              </a:rPr>
              <a:t>Training only, minus part 2's flights</a:t>
            </a:r>
            <a:endParaRPr lang="en-US" sz="2200" dirty="0"/>
          </a:p>
        </p:txBody>
      </p:sp>
      <p:sp>
        <p:nvSpPr>
          <p:cNvPr id="9" name="Part 2 box"/>
          <p:cNvSpPr/>
          <p:nvPr/>
        </p:nvSpPr>
        <p:spPr>
          <a:xfrm>
            <a:off x="8442655" y="2011680"/>
            <a:ext cx="3017520" cy="1737360"/>
          </a:xfrm>
          <a:prstGeom prst="roundRect">
            <a:avLst>
              <a:gd name="adj" fmla="val 5263"/>
            </a:avLst>
          </a:prstGeom>
          <a:solidFill>
            <a:schemeClr val="bg2"/>
          </a:solidFill>
          <a:ln w="31750">
            <a:solidFill>
              <a:schemeClr val="accent2"/>
            </a:solidFill>
            <a:prstDash val="solid"/>
          </a:ln>
        </p:spPr>
      </p:sp>
      <p:sp>
        <p:nvSpPr>
          <p:cNvPr id="10" name="Part 2 text"/>
          <p:cNvSpPr txBox="1"/>
          <p:nvPr/>
        </p:nvSpPr>
        <p:spPr>
          <a:xfrm>
            <a:off x="8671255" y="2103120"/>
            <a:ext cx="2560320" cy="1554480"/>
          </a:xfrm>
          <a:prstGeom prst="rect">
            <a:avLst/>
          </a:prstGeom>
          <a:noFill/>
          <a:ln/>
        </p:spPr>
        <p:txBody>
          <a:bodyPr wrap="square" lIns="0" tIns="0" rIns="0" bIns="0" rtlCol="0" anchor="ctr"/>
          <a:lstStyle/>
          <a:p>
            <a:pPr indent="0" marL="0">
              <a:buNone/>
            </a:pPr>
            <a:r>
              <a:rPr lang="en-US" sz="2200" b="1" dirty="0">
                <a:solidFill>
                  <a:schemeClr val="accent2"/>
                </a:solidFill>
              </a:rPr>
              <a:t>Part 2</a:t>
            </a:r>
            <a:endParaRPr lang="en-US" sz="2200" dirty="0"/>
          </a:p>
          <a:p>
            <a:pPr indent="0" marL="0">
              <a:buNone/>
            </a:pPr>
            <a:r>
              <a:rPr lang="en-US" sz="1600" b="1" dirty="0">
                <a:solidFill>
                  <a:schemeClr val="tx1"/>
                </a:solidFill>
              </a:rPr>
              <a:t>1,312 flights</a:t>
            </a:r>
            <a:endParaRPr lang="en-US" sz="2200" dirty="0"/>
          </a:p>
          <a:p>
            <a:pPr indent="0" marL="0">
              <a:buNone/>
            </a:pPr>
            <a:r>
              <a:rPr lang="en-US" sz="1400" dirty="0">
                <a:solidFill>
                  <a:schemeClr val="tx1"/>
                </a:solidFill>
              </a:rPr>
              <a:t>Test set: 1,708 aircraft</a:t>
            </a:r>
            <a:endParaRPr lang="en-US" sz="2200" dirty="0"/>
          </a:p>
        </p:txBody>
      </p:sp>
      <p:sp>
        <p:nvSpPr>
          <p:cNvPr id="11" name="Overlap link"/>
          <p:cNvSpPr/>
          <p:nvPr/>
        </p:nvSpPr>
        <p:spPr>
          <a:xfrm>
            <a:off x="3794760" y="2880360"/>
            <a:ext cx="746608" cy="0"/>
          </a:xfrm>
          <a:prstGeom prst="line">
            <a:avLst/>
          </a:prstGeom>
          <a:noFill/>
          <a:ln w="19050">
            <a:solidFill>
              <a:srgbClr val="52514E"/>
            </a:solidFill>
            <a:prstDash val="dash"/>
          </a:ln>
        </p:spPr>
      </p:sp>
      <p:sp>
        <p:nvSpPr>
          <p:cNvPr id="12" name="Overlap label"/>
          <p:cNvSpPr txBox="1"/>
          <p:nvPr/>
        </p:nvSpPr>
        <p:spPr>
          <a:xfrm>
            <a:off x="3703320" y="2971800"/>
            <a:ext cx="929488" cy="685800"/>
          </a:xfrm>
          <a:prstGeom prst="rect">
            <a:avLst/>
          </a:prstGeom>
          <a:noFill/>
          <a:ln/>
        </p:spPr>
        <p:txBody>
          <a:bodyPr wrap="square" lIns="0" tIns="0" rIns="0" bIns="0" rtlCol="0" anchor="t"/>
          <a:lstStyle/>
          <a:p>
            <a:pPr algn="ctr" indent="0" marL="0">
              <a:buNone/>
            </a:pPr>
            <a:r>
              <a:rPr lang="en-US" sz="1500" b="1" dirty="0">
                <a:solidFill>
                  <a:schemeClr val="tx1"/>
                </a:solidFill>
              </a:rPr>
              <a:t>352 shared</a:t>
            </a:r>
            <a:endParaRPr lang="en-US" sz="1500" dirty="0"/>
          </a:p>
          <a:p>
            <a:pPr algn="ctr" indent="0" marL="0">
              <a:buNone/>
            </a:pPr>
            <a:r>
              <a:rPr lang="en-US" sz="1200" dirty="0">
                <a:solidFill>
                  <a:schemeClr val="tx1"/>
                </a:solidFill>
              </a:rPr>
              <a:t>Same side in both (flight hash)</a:t>
            </a:r>
            <a:endParaRPr lang="en-US" sz="1500" dirty="0"/>
          </a:p>
        </p:txBody>
      </p:sp>
      <p:sp>
        <p:nvSpPr>
          <p:cNvPr id="13" name="Overlap link"/>
          <p:cNvSpPr/>
          <p:nvPr/>
        </p:nvSpPr>
        <p:spPr>
          <a:xfrm>
            <a:off x="7650328" y="2880360"/>
            <a:ext cx="746608" cy="0"/>
          </a:xfrm>
          <a:prstGeom prst="line">
            <a:avLst/>
          </a:prstGeom>
          <a:noFill/>
          <a:ln w="19050">
            <a:solidFill>
              <a:srgbClr val="52514E"/>
            </a:solidFill>
            <a:prstDash val="dash"/>
          </a:ln>
        </p:spPr>
      </p:sp>
      <p:sp>
        <p:nvSpPr>
          <p:cNvPr id="14" name="Overlap label"/>
          <p:cNvSpPr txBox="1"/>
          <p:nvPr/>
        </p:nvSpPr>
        <p:spPr>
          <a:xfrm>
            <a:off x="7558888" y="2971800"/>
            <a:ext cx="929488" cy="685800"/>
          </a:xfrm>
          <a:prstGeom prst="rect">
            <a:avLst/>
          </a:prstGeom>
          <a:noFill/>
          <a:ln/>
        </p:spPr>
        <p:txBody>
          <a:bodyPr wrap="square" lIns="0" tIns="0" rIns="0" bIns="0" rtlCol="0" anchor="t"/>
          <a:lstStyle/>
          <a:p>
            <a:pPr algn="ctr" indent="0" marL="0">
              <a:buNone/>
            </a:pPr>
            <a:r>
              <a:rPr lang="en-US" sz="1500" b="1" dirty="0">
                <a:solidFill>
                  <a:schemeClr val="tx1"/>
                </a:solidFill>
              </a:rPr>
              <a:t>364 shared</a:t>
            </a:r>
            <a:endParaRPr lang="en-US" sz="1500" dirty="0"/>
          </a:p>
          <a:p>
            <a:pPr algn="ctr" indent="0" marL="0">
              <a:buNone/>
            </a:pPr>
            <a:r>
              <a:rPr lang="en-US" sz="1200" dirty="0">
                <a:solidFill>
                  <a:schemeClr val="tx1"/>
                </a:solidFill>
              </a:rPr>
              <a:t>Removed from training</a:t>
            </a:r>
            <a:endParaRPr lang="en-US" sz="1500" dirty="0"/>
          </a:p>
        </p:txBody>
      </p:sp>
      <p:sp>
        <p:nvSpPr>
          <p:cNvPr id="15" name="Part 1 and 2 card"/>
          <p:cNvSpPr/>
          <p:nvPr/>
        </p:nvSpPr>
        <p:spPr>
          <a:xfrm>
            <a:off x="731520" y="4160520"/>
            <a:ext cx="10728655" cy="914400"/>
          </a:xfrm>
          <a:prstGeom prst="roundRect">
            <a:avLst>
              <a:gd name="adj" fmla="val 8000"/>
            </a:avLst>
          </a:prstGeom>
          <a:solidFill>
            <a:schemeClr val="bg2"/>
          </a:solidFill>
          <a:ln/>
        </p:spPr>
      </p:sp>
      <p:sp>
        <p:nvSpPr>
          <p:cNvPr id="16" name="Part 1 and 2 text"/>
          <p:cNvSpPr txBox="1"/>
          <p:nvPr/>
        </p:nvSpPr>
        <p:spPr>
          <a:xfrm>
            <a:off x="1005840" y="4160520"/>
            <a:ext cx="10180015" cy="914400"/>
          </a:xfrm>
          <a:prstGeom prst="rect">
            <a:avLst/>
          </a:prstGeom>
          <a:noFill/>
          <a:ln/>
        </p:spPr>
        <p:txBody>
          <a:bodyPr wrap="square" lIns="0" tIns="0" rIns="0" bIns="0" rtlCol="0" anchor="ctr"/>
          <a:lstStyle/>
          <a:p>
            <a:pPr indent="0" marL="0">
              <a:buNone/>
            </a:pPr>
            <a:r>
              <a:rPr lang="en-US" sz="1500" b="1" dirty="0">
                <a:solidFill>
                  <a:schemeClr val="tx1"/>
                </a:solidFill>
              </a:rPr>
              <a:t>Part 1 and part 2: 0 shared. </a:t>
            </a:r>
            <a:pPr indent="0" marL="0">
              <a:buNone/>
            </a:pPr>
            <a:r>
              <a:rPr lang="en-US" sz="1500" dirty="0">
                <a:solidFill>
                  <a:schemeClr val="tx1"/>
                </a:solidFill>
              </a:rPr>
              <a:t>Every model trained on part 1 can be tested on part 2. Built with prepare_aot --part part2 --train 0 --val-fraction 1: 1,813 crops.</a:t>
            </a:r>
            <a:endParaRPr lang="en-US" sz="1500" dirty="0"/>
          </a:p>
        </p:txBody>
      </p:sp>
      <p:sp>
        <p:nvSpPr>
          <p:cNvPr id="17" name="Caption"/>
          <p:cNvSpPr txBox="1"/>
          <p:nvPr/>
        </p:nvSpPr>
        <p:spPr>
          <a:xfrm>
            <a:off x="731520" y="5349240"/>
            <a:ext cx="10728655" cy="365760"/>
          </a:xfrm>
          <a:prstGeom prst="rect">
            <a:avLst/>
          </a:prstGeom>
          <a:noFill/>
          <a:ln/>
        </p:spPr>
        <p:txBody>
          <a:bodyPr wrap="square" lIns="0" tIns="0" rIns="0" bIns="0" rtlCol="0" anchor="t"/>
          <a:lstStyle/>
          <a:p>
            <a:pPr algn="l" indent="0" marL="0">
              <a:buNone/>
            </a:pPr>
            <a:r>
              <a:rPr lang="en-US" sz="1200" dirty="0">
                <a:solidFill>
                  <a:srgbClr val="52514E"/>
                </a:solidFill>
              </a:rPr>
              <a:t>Checked after building: no training flight is in validation or in part 2.</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Training data grew 6.5 times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From 1,548 crops of part 1 to 10,051 crops from parts 1 and 3</a:t>
            </a:r>
            <a:endParaRPr lang="en-US" sz="1800" dirty="0"/>
          </a:p>
        </p:txBody>
      </p:sp>
      <p:graphicFrame>
        <p:nvGraphicFramePr>
          <p:cNvPr id="5" name="Chart 0" descr=""/>
          <p:cNvGraphicFramePr/>
          <p:nvPr/>
        </p:nvGraphicFramePr>
        <p:xfrm>
          <a:off x="548640" y="173736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680960" y="1828800"/>
            <a:ext cx="3962095" cy="1417320"/>
          </a:xfrm>
          <a:prstGeom prst="roundRect">
            <a:avLst>
              <a:gd name="adj" fmla="val 5161"/>
            </a:avLst>
          </a:prstGeom>
          <a:solidFill>
            <a:schemeClr val="bg2"/>
          </a:solidFill>
          <a:ln/>
        </p:spPr>
      </p:sp>
      <p:sp>
        <p:nvSpPr>
          <p:cNvPr id="7" name="Stat value"/>
          <p:cNvSpPr txBox="1"/>
          <p:nvPr/>
        </p:nvSpPr>
        <p:spPr>
          <a:xfrm>
            <a:off x="7909560" y="2011680"/>
            <a:ext cx="3504895" cy="868680"/>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540 crops</a:t>
            </a:r>
            <a:endParaRPr lang="en-US" sz="3200" dirty="0"/>
          </a:p>
        </p:txBody>
      </p:sp>
      <p:sp>
        <p:nvSpPr>
          <p:cNvPr id="8" name="Stat label"/>
          <p:cNvSpPr txBox="1"/>
          <p:nvPr/>
        </p:nvSpPr>
        <p:spPr>
          <a:xfrm>
            <a:off x="7909560" y="2944368"/>
            <a:ext cx="3504895" cy="137160"/>
          </a:xfrm>
          <a:prstGeom prst="rect">
            <a:avLst/>
          </a:prstGeom>
          <a:noFill/>
          <a:ln/>
        </p:spPr>
        <p:txBody>
          <a:bodyPr wrap="square" lIns="0" tIns="0" rIns="0" bIns="0" rtlCol="0" anchor="t"/>
          <a:lstStyle/>
          <a:p>
            <a:pPr indent="0" marL="0">
              <a:buNone/>
            </a:pPr>
            <a:r>
              <a:rPr lang="en-US" sz="1400" dirty="0">
                <a:solidFill>
                  <a:schemeClr val="tx1"/>
                </a:solidFill>
              </a:rPr>
              <a:t>validation: 230 held-out part 1 flights</a:t>
            </a:r>
            <a:endParaRPr lang="en-US" sz="1400" dirty="0"/>
          </a:p>
        </p:txBody>
      </p:sp>
      <p:sp>
        <p:nvSpPr>
          <p:cNvPr id="9" name="Stat card"/>
          <p:cNvSpPr/>
          <p:nvPr/>
        </p:nvSpPr>
        <p:spPr>
          <a:xfrm>
            <a:off x="7680960" y="3429000"/>
            <a:ext cx="3962095" cy="1417320"/>
          </a:xfrm>
          <a:prstGeom prst="roundRect">
            <a:avLst>
              <a:gd name="adj" fmla="val 5161"/>
            </a:avLst>
          </a:prstGeom>
          <a:solidFill>
            <a:schemeClr val="bg2"/>
          </a:solidFill>
          <a:ln/>
        </p:spPr>
      </p:sp>
      <p:sp>
        <p:nvSpPr>
          <p:cNvPr id="10" name="Stat value"/>
          <p:cNvSpPr txBox="1"/>
          <p:nvPr/>
        </p:nvSpPr>
        <p:spPr>
          <a:xfrm>
            <a:off x="7909560" y="3611880"/>
            <a:ext cx="3504895" cy="868680"/>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1,813 crops</a:t>
            </a:r>
            <a:endParaRPr lang="en-US" sz="3200" dirty="0"/>
          </a:p>
        </p:txBody>
      </p:sp>
      <p:sp>
        <p:nvSpPr>
          <p:cNvPr id="11" name="Stat label"/>
          <p:cNvSpPr txBox="1"/>
          <p:nvPr/>
        </p:nvSpPr>
        <p:spPr>
          <a:xfrm>
            <a:off x="7909560" y="4544568"/>
            <a:ext cx="3504895" cy="137160"/>
          </a:xfrm>
          <a:prstGeom prst="rect">
            <a:avLst/>
          </a:prstGeom>
          <a:noFill/>
          <a:ln/>
        </p:spPr>
        <p:txBody>
          <a:bodyPr wrap="square" lIns="0" tIns="0" rIns="0" bIns="0" rtlCol="0" anchor="t"/>
          <a:lstStyle/>
          <a:p>
            <a:pPr indent="0" marL="0">
              <a:buNone/>
            </a:pPr>
            <a:r>
              <a:rPr lang="en-US" sz="1400" dirty="0">
                <a:solidFill>
                  <a:schemeClr val="tx1"/>
                </a:solidFill>
              </a:rPr>
              <a:t>test (part 2): 1,708 aircraft, 1,312 flights</a:t>
            </a:r>
            <a:endParaRPr lang="en-US" sz="1400" dirty="0"/>
          </a:p>
        </p:txBody>
      </p:sp>
      <p:sp>
        <p:nvSpPr>
          <p:cNvPr id="12" name="Stat card"/>
          <p:cNvSpPr/>
          <p:nvPr/>
        </p:nvSpPr>
        <p:spPr>
          <a:xfrm>
            <a:off x="7680960" y="5029200"/>
            <a:ext cx="3962095" cy="1097280"/>
          </a:xfrm>
          <a:prstGeom prst="roundRect">
            <a:avLst>
              <a:gd name="adj" fmla="val 6667"/>
            </a:avLst>
          </a:prstGeom>
          <a:solidFill>
            <a:schemeClr val="bg2"/>
          </a:solidFill>
          <a:ln/>
        </p:spPr>
      </p:sp>
      <p:sp>
        <p:nvSpPr>
          <p:cNvPr id="13" name="Stat value"/>
          <p:cNvSpPr txBox="1"/>
          <p:nvPr/>
        </p:nvSpPr>
        <p:spPr>
          <a:xfrm>
            <a:off x="7909560" y="5212080"/>
            <a:ext cx="3504895" cy="86868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0 failures</a:t>
            </a:r>
            <a:endParaRPr lang="en-US" sz="3200" dirty="0"/>
          </a:p>
        </p:txBody>
      </p:sp>
      <p:sp>
        <p:nvSpPr>
          <p:cNvPr id="14" name="Stat label"/>
          <p:cNvSpPr txBox="1"/>
          <p:nvPr/>
        </p:nvSpPr>
        <p:spPr>
          <a:xfrm>
            <a:off x="7909560" y="6144768"/>
            <a:ext cx="3504895" cy="-182880"/>
          </a:xfrm>
          <a:prstGeom prst="rect">
            <a:avLst/>
          </a:prstGeom>
          <a:noFill/>
          <a:ln/>
        </p:spPr>
        <p:txBody>
          <a:bodyPr wrap="square" lIns="0" tIns="0" rIns="0" bIns="0" rtlCol="0" anchor="t"/>
          <a:lstStyle/>
          <a:p>
            <a:pPr indent="0" marL="0">
              <a:buNone/>
            </a:pPr>
            <a:r>
              <a:rPr lang="en-US" sz="1400" dirty="0">
                <a:solidFill>
                  <a:schemeClr val="tx1"/>
                </a:solidFill>
              </a:rPr>
              <a:t>building part 3 after adding download retries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Three frames as one image</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Static scenery stacks to grey; anything moving leaves coloured fringes</a:t>
            </a:r>
            <a:endParaRPr lang="en-US" sz="1800" dirty="0"/>
          </a:p>
        </p:txBody>
      </p:sp>
      <p:pic>
        <p:nvPicPr>
          <p:cNvPr id="5" name="Helicopter in frames t-2, t, t+2 and stacked" descr="Helicopter in frames t-2, t, t+2 and stacked">    </p:cNvPr>
          <p:cNvPicPr>
            <a:picLocks noChangeAspect="1"/>
          </p:cNvPicPr>
          <p:nvPr/>
        </p:nvPicPr>
        <p:blipFill>
          <a:blip r:embed="rId1"/>
          <a:stretch>
            <a:fillRect/>
          </a:stretch>
        </p:blipFill>
        <p:spPr>
          <a:xfrm>
            <a:off x="1097280" y="1828800"/>
            <a:ext cx="9997135" cy="2785493"/>
          </a:xfrm>
          <a:prstGeom prst="rect">
            <a:avLst/>
          </a:prstGeom>
        </p:spPr>
      </p:pic>
      <p:sp>
        <p:nvSpPr>
          <p:cNvPr id="6" name="Bullets"/>
          <p:cNvSpPr txBox="1"/>
          <p:nvPr/>
        </p:nvSpPr>
        <p:spPr>
          <a:xfrm>
            <a:off x="1097280" y="4934333"/>
            <a:ext cx="9997135" cy="137160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Align: </a:t>
            </a:r>
            <a:endParaRPr lang="en-US" sz="1600" dirty="0"/>
          </a:p>
          <a:p>
            <a:pPr indent="0" marL="0">
              <a:buNone/>
            </a:pPr>
            <a:r>
              <a:rPr lang="en-US" sz="1600" dirty="0">
                <a:solidFill>
                  <a:schemeClr val="tx1"/>
                </a:solidFill>
              </a:rPr>
              <a:t>neighbours are shifted onto frame t by phase correlation</a:t>
            </a:r>
            <a:endParaRPr lang="en-US" sz="1600" dirty="0"/>
          </a:p>
          <a:p>
            <a:pPr marL="342900" indent="-342900">
              <a:spcAft>
                <a:spcPts val="800"/>
              </a:spcAft>
              <a:buSzPct val="100000"/>
              <a:buChar char="•"/>
            </a:pPr>
            <a:r>
              <a:rPr lang="en-US" sz="1600" b="1" dirty="0">
                <a:solidFill>
                  <a:schemeClr val="tx1"/>
                </a:solidFill>
              </a:rPr>
              <a:t>Stack: </a:t>
            </a:r>
            <a:endParaRPr lang="en-US" sz="1600" dirty="0"/>
          </a:p>
          <a:p>
            <a:pPr indent="0" marL="0">
              <a:buNone/>
            </a:pPr>
            <a:r>
              <a:rPr lang="en-US" sz="1600" dirty="0">
                <a:solidFill>
                  <a:schemeClr val="tx1"/>
                </a:solidFill>
              </a:rPr>
              <a:t>frames t−2, t and t+2 become the three colour channels</a:t>
            </a:r>
            <a:endParaRPr lang="en-US" sz="1600" dirty="0"/>
          </a:p>
          <a:p>
            <a:pPr marL="342900" indent="-342900">
              <a:spcAft>
                <a:spcPts val="800"/>
              </a:spcAft>
              <a:buSzPct val="100000"/>
              <a:buChar char="•"/>
            </a:pPr>
            <a:r>
              <a:rPr lang="en-US" sz="1600" b="1" dirty="0">
                <a:solidFill>
                  <a:schemeClr val="tx1"/>
                </a:solidFill>
              </a:rPr>
              <a:t>Effect: </a:t>
            </a:r>
            <a:pPr indent="0" marL="0">
              <a:buNone/>
            </a:pPr>
            <a:r>
              <a:rPr lang="en-US" sz="1600" dirty="0">
                <a:solidFill>
                  <a:schemeClr val="tx1"/>
                </a:solidFill>
              </a:rPr>
              <a:t>at equal recall, about 40% fewer false detections than one frame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Satellite training data</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PlanesNet aircraft moved into the air, plus hard negatives</a:t>
            </a:r>
            <a:endParaRPr lang="en-US" sz="1800" dirty="0"/>
          </a:p>
        </p:txBody>
      </p:sp>
      <p:pic>
        <p:nvPicPr>
          <p:cNvPr id="5" name="Aircraft masks under three settings" descr="Aircraft masks under three settings">    </p:cNvPr>
          <p:cNvPicPr>
            <a:picLocks noChangeAspect="1"/>
          </p:cNvPicPr>
          <p:nvPr/>
        </p:nvPicPr>
        <p:blipFill>
          <a:blip r:embed="rId1"/>
          <a:stretch>
            <a:fillRect/>
          </a:stretch>
        </p:blipFill>
        <p:spPr>
          <a:xfrm>
            <a:off x="548640" y="1737360"/>
            <a:ext cx="5364328" cy="2827795"/>
          </a:xfrm>
          <a:prstGeom prst="rect">
            <a:avLst/>
          </a:prstGeom>
        </p:spPr>
      </p:pic>
      <p:sp>
        <p:nvSpPr>
          <p:cNvPr id="6" name="Caption"/>
          <p:cNvSpPr txBox="1"/>
          <p:nvPr/>
        </p:nvSpPr>
        <p:spPr>
          <a:xfrm>
            <a:off x="548640" y="4656595"/>
            <a:ext cx="5364328" cy="548640"/>
          </a:xfrm>
          <a:prstGeom prst="rect">
            <a:avLst/>
          </a:prstGeom>
          <a:noFill/>
          <a:ln/>
        </p:spPr>
        <p:txBody>
          <a:bodyPr wrap="square" lIns="0" tIns="0" rIns="0" bIns="0" rtlCol="0" anchor="t"/>
          <a:lstStyle/>
          <a:p>
            <a:pPr algn="l" indent="0" marL="0">
              <a:buNone/>
            </a:pPr>
            <a:r>
              <a:rPr lang="en-US" sz="1200" dirty="0">
                <a:solidFill>
                  <a:schemeClr val="tx1"/>
                </a:solidFill>
              </a:rPr>
              <a:t>Mask settings: version 3 keeps the silhouette and 94% of aircraft</a:t>
            </a:r>
            <a:endParaRPr lang="en-US" sz="1200" dirty="0"/>
          </a:p>
        </p:txBody>
      </p:sp>
      <p:pic>
        <p:nvPicPr>
          <p:cNvPr id="7" name="Synthetic in-flight samples and negatives" descr="Synthetic in-flight samples and negatives">    </p:cNvPr>
          <p:cNvPicPr>
            <a:picLocks noChangeAspect="1"/>
          </p:cNvPicPr>
          <p:nvPr/>
        </p:nvPicPr>
        <p:blipFill>
          <a:blip r:embed="rId2"/>
          <a:stretch>
            <a:fillRect/>
          </a:stretch>
        </p:blipFill>
        <p:spPr>
          <a:xfrm>
            <a:off x="6278728" y="1737360"/>
            <a:ext cx="5364328" cy="2827795"/>
          </a:xfrm>
          <a:prstGeom prst="rect">
            <a:avLst/>
          </a:prstGeom>
        </p:spPr>
      </p:pic>
      <p:sp>
        <p:nvSpPr>
          <p:cNvPr id="8" name="Caption"/>
          <p:cNvSpPr txBox="1"/>
          <p:nvPr/>
        </p:nvSpPr>
        <p:spPr>
          <a:xfrm>
            <a:off x="6278728" y="4656595"/>
            <a:ext cx="5364328" cy="548640"/>
          </a:xfrm>
          <a:prstGeom prst="rect">
            <a:avLst/>
          </a:prstGeom>
          <a:noFill/>
          <a:ln/>
        </p:spPr>
        <p:txBody>
          <a:bodyPr wrap="square" lIns="0" tIns="0" rIns="0" bIns="0" rtlCol="0" anchor="t"/>
          <a:lstStyle/>
          <a:p>
            <a:pPr algn="l" indent="0" marL="0">
              <a:buNone/>
            </a:pPr>
            <a:r>
              <a:rPr lang="en-US" sz="1200" dirty="0">
                <a:solidFill>
                  <a:schemeClr val="tx1"/>
                </a:solidFill>
              </a:rPr>
              <a:t>Rows: real PlanesNet, synthetic in-flight positives, tarmac distractors, hard negatives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3</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Models</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A small fully convolutional satellite classifier, and YOLO11 variants for the sky</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PlaneNet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Nine times fewer parameters, and one pass over a whole scene</a:t>
            </a:r>
            <a:endParaRPr lang="en-US" sz="1800" dirty="0"/>
          </a:p>
        </p:txBody>
      </p:sp>
      <p:pic>
        <p:nvPicPr>
          <p:cNvPr id="5" name="Original network versus PlaneNet" descr="Original network versus PlaneNet">    </p:cNvPr>
          <p:cNvPicPr>
            <a:picLocks noChangeAspect="1"/>
          </p:cNvPicPr>
          <p:nvPr/>
        </p:nvPicPr>
        <p:blipFill>
          <a:blip r:embed="rId1"/>
          <a:stretch>
            <a:fillRect/>
          </a:stretch>
        </p:blipFill>
        <p:spPr>
          <a:xfrm>
            <a:off x="548640" y="1691640"/>
            <a:ext cx="6766560" cy="4460488"/>
          </a:xfrm>
          <a:prstGeom prst="rect">
            <a:avLst/>
          </a:prstGeom>
        </p:spPr>
      </p:pic>
      <p:sp>
        <p:nvSpPr>
          <p:cNvPr id="6" name="Stat card"/>
          <p:cNvSpPr/>
          <p:nvPr/>
        </p:nvSpPr>
        <p:spPr>
          <a:xfrm>
            <a:off x="7680960" y="1691640"/>
            <a:ext cx="3962095" cy="1417320"/>
          </a:xfrm>
          <a:prstGeom prst="roundRect">
            <a:avLst>
              <a:gd name="adj" fmla="val 5161"/>
            </a:avLst>
          </a:prstGeom>
          <a:solidFill>
            <a:schemeClr val="bg2"/>
          </a:solidFill>
          <a:ln/>
        </p:spPr>
      </p:sp>
      <p:sp>
        <p:nvSpPr>
          <p:cNvPr id="7" name="Stat value"/>
          <p:cNvSpPr txBox="1"/>
          <p:nvPr/>
        </p:nvSpPr>
        <p:spPr>
          <a:xfrm>
            <a:off x="7909560" y="1874520"/>
            <a:ext cx="350489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877k → 99k</a:t>
            </a:r>
            <a:endParaRPr lang="en-US" sz="3400" dirty="0"/>
          </a:p>
        </p:txBody>
      </p:sp>
      <p:sp>
        <p:nvSpPr>
          <p:cNvPr id="8" name="Stat label"/>
          <p:cNvSpPr txBox="1"/>
          <p:nvPr/>
        </p:nvSpPr>
        <p:spPr>
          <a:xfrm>
            <a:off x="7909560" y="2807208"/>
            <a:ext cx="3504895" cy="137160"/>
          </a:xfrm>
          <a:prstGeom prst="rect">
            <a:avLst/>
          </a:prstGeom>
          <a:noFill/>
          <a:ln/>
        </p:spPr>
        <p:txBody>
          <a:bodyPr wrap="square" lIns="0" tIns="0" rIns="0" bIns="0" rtlCol="0" anchor="t"/>
          <a:lstStyle/>
          <a:p>
            <a:pPr indent="0" marL="0">
              <a:buNone/>
            </a:pPr>
            <a:r>
              <a:rPr lang="en-US" sz="1400" dirty="0">
                <a:solidFill>
                  <a:schemeClr val="tx1"/>
                </a:solidFill>
              </a:rPr>
              <a:t>parameters; the dense layer becomes a 2×2 convolution</a:t>
            </a:r>
            <a:endParaRPr lang="en-US" sz="1400" dirty="0"/>
          </a:p>
        </p:txBody>
      </p:sp>
      <p:sp>
        <p:nvSpPr>
          <p:cNvPr id="9" name="Stat card"/>
          <p:cNvSpPr/>
          <p:nvPr/>
        </p:nvSpPr>
        <p:spPr>
          <a:xfrm>
            <a:off x="7680960" y="3291840"/>
            <a:ext cx="3962095" cy="1417320"/>
          </a:xfrm>
          <a:prstGeom prst="roundRect">
            <a:avLst>
              <a:gd name="adj" fmla="val 5161"/>
            </a:avLst>
          </a:prstGeom>
          <a:solidFill>
            <a:schemeClr val="bg2"/>
          </a:solidFill>
          <a:ln/>
        </p:spPr>
      </p:sp>
      <p:sp>
        <p:nvSpPr>
          <p:cNvPr id="10" name="Stat value"/>
          <p:cNvSpPr txBox="1"/>
          <p:nvPr/>
        </p:nvSpPr>
        <p:spPr>
          <a:xfrm>
            <a:off x="7909560" y="3474720"/>
            <a:ext cx="350489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1 pass</a:t>
            </a:r>
            <a:endParaRPr lang="en-US" sz="3400" dirty="0"/>
          </a:p>
        </p:txBody>
      </p:sp>
      <p:sp>
        <p:nvSpPr>
          <p:cNvPr id="11" name="Stat label"/>
          <p:cNvSpPr txBox="1"/>
          <p:nvPr/>
        </p:nvSpPr>
        <p:spPr>
          <a:xfrm>
            <a:off x="7909560" y="4407408"/>
            <a:ext cx="3504895" cy="137160"/>
          </a:xfrm>
          <a:prstGeom prst="rect">
            <a:avLst/>
          </a:prstGeom>
          <a:noFill/>
          <a:ln/>
        </p:spPr>
        <p:txBody>
          <a:bodyPr wrap="square" lIns="0" tIns="0" rIns="0" bIns="0" rtlCol="0" anchor="t"/>
          <a:lstStyle/>
          <a:p>
            <a:pPr indent="0" marL="0">
              <a:buNone/>
            </a:pPr>
            <a:r>
              <a:rPr lang="en-US" sz="1400" dirty="0">
                <a:solidFill>
                  <a:schemeClr val="tx1"/>
                </a:solidFill>
              </a:rPr>
              <a:t>per scene instead of about 280,000 window calls</a:t>
            </a:r>
            <a:endParaRPr lang="en-US" sz="1400" dirty="0"/>
          </a:p>
        </p:txBody>
      </p:sp>
      <p:sp>
        <p:nvSpPr>
          <p:cNvPr id="12" name="Stat card"/>
          <p:cNvSpPr/>
          <p:nvPr/>
        </p:nvSpPr>
        <p:spPr>
          <a:xfrm>
            <a:off x="7680960" y="4892040"/>
            <a:ext cx="3962095" cy="1188720"/>
          </a:xfrm>
          <a:prstGeom prst="roundRect">
            <a:avLst>
              <a:gd name="adj" fmla="val 6154"/>
            </a:avLst>
          </a:prstGeom>
          <a:solidFill>
            <a:schemeClr val="bg2"/>
          </a:solidFill>
          <a:ln/>
        </p:spPr>
      </p:sp>
      <p:sp>
        <p:nvSpPr>
          <p:cNvPr id="13" name="Stat value"/>
          <p:cNvSpPr txBox="1"/>
          <p:nvPr/>
        </p:nvSpPr>
        <p:spPr>
          <a:xfrm>
            <a:off x="7909560" y="5074920"/>
            <a:ext cx="350489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~4 s</a:t>
            </a:r>
            <a:endParaRPr lang="en-US" sz="3400" dirty="0"/>
          </a:p>
        </p:txBody>
      </p:sp>
      <p:sp>
        <p:nvSpPr>
          <p:cNvPr id="14" name="Stat label"/>
          <p:cNvSpPr txBox="1"/>
          <p:nvPr/>
        </p:nvSpPr>
        <p:spPr>
          <a:xfrm>
            <a:off x="7909560" y="6007608"/>
            <a:ext cx="3504895" cy="-91440"/>
          </a:xfrm>
          <a:prstGeom prst="rect">
            <a:avLst/>
          </a:prstGeom>
          <a:noFill/>
          <a:ln/>
        </p:spPr>
        <p:txBody>
          <a:bodyPr wrap="square" lIns="0" tIns="0" rIns="0" bIns="0" rtlCol="0" anchor="t"/>
          <a:lstStyle/>
          <a:p>
            <a:pPr indent="0" marL="0">
              <a:buNone/>
            </a:pPr>
            <a:r>
              <a:rPr lang="en-US" sz="1400" dirty="0">
                <a:solidFill>
                  <a:schemeClr val="tx1"/>
                </a:solidFill>
              </a:rPr>
              <a:t>for a 1225×1139 scene on CPU</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Sky detector variants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Same recipe for all; they differ in input, detection layers and size</a:t>
            </a:r>
            <a:endParaRPr lang="en-US" sz="18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108960"/>
                <a:gridCol w="1463040"/>
                <a:gridCol w="1371600"/>
                <a:gridCol w="2103120"/>
                <a:gridCol w="3044952"/>
              </a:tblGrid>
              <a:tr h="0">
                <a:tc>
                  <a:txBody>
                    <a:bodyPr/>
                    <a:lstStyle/>
                    <a:p>
                      <a:pPr indent="0" marL="0">
                        <a:buNone/>
                      </a:pPr>
                      <a:r>
                        <a:rPr lang="en-US" sz="1500" b="1" dirty="0">
                          <a:solidFill>
                            <a:schemeClr val="bg1"/>
                          </a:solidFill>
                        </a:rPr>
                        <a:t>Model</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Parameters</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Input</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Detection layers</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Training</a:t>
                      </a:r>
                      <a:endParaRPr lang="en-US" sz="15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500" dirty="0">
                          <a:solidFill>
                            <a:schemeClr val="tx1"/>
                          </a:solidFill>
                        </a:rPr>
                        <a:t>yolo11n, COCO weights (baseline)</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2.62 M</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1 frame</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8, 16, 32 px</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None</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500" dirty="0">
                          <a:solidFill>
                            <a:schemeClr val="tx1"/>
                          </a:solidFill>
                        </a:rPr>
                        <a:t>yolo11n fine-tuned</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2.62 M</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1 frame</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8, 16, 32 px</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12 epochs, 1,548 crops, CPU</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500" dirty="0">
                          <a:solidFill>
                            <a:schemeClr val="tx1"/>
                          </a:solidFill>
                        </a:rPr>
                        <a:t>yolo11n fine-tuned</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2.62 M</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3 frames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8, 16, 32 px</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12 epochs, 1,548 crops, CPU</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500" dirty="0">
                          <a:solidFill>
                            <a:schemeClr val="tx1"/>
                          </a:solidFill>
                        </a:rPr>
                        <a:t>yolo11n-p2</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2.74 M</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3 frames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4, 8, 16, 32 px</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12 epochs, 1,548 crops, CPU</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500" dirty="0">
                          <a:solidFill>
                            <a:schemeClr val="tx1"/>
                          </a:solidFill>
                        </a:rPr>
                        <a:t>yolo11s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9.46 M</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3 frames</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8, 16, 32 px</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12 epochs, 1,548 crops, CPU</a:t>
                      </a:r>
                      <a:endParaRPr lang="en-US" sz="15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500" b="1" dirty="0">
                          <a:solidFill>
                            <a:schemeClr val="tx1"/>
                          </a:solidFill>
                        </a:rPr>
                        <a:t>yolo11s</a:t>
                      </a:r>
                      <a:endParaRPr lang="en-US" sz="1500" dirty="0"/>
                    </a:p>
                  </a:txBody>
                  <a:tcPr marL="91440" marR="91440"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1"/>
                          </a:solidFill>
                        </a:rPr>
                        <a:t>9.46 M</a:t>
                      </a:r>
                      <a:endParaRPr lang="en-US" sz="1500" dirty="0"/>
                    </a:p>
                  </a:txBody>
                  <a:tcPr marL="91440" marR="91440"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1"/>
                          </a:solidFill>
                        </a:rPr>
                        <a:t>3 frames</a:t>
                      </a:r>
                      <a:endParaRPr lang="en-US" sz="1500" dirty="0"/>
                    </a:p>
                  </a:txBody>
                  <a:tcPr marL="91440" marR="91440"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1"/>
                          </a:solidFill>
                        </a:rPr>
                        <a:t>8, 16, 32 px</a:t>
                      </a:r>
                      <a:endParaRPr lang="en-US" sz="1500" dirty="0"/>
                    </a:p>
                  </a:txBody>
                  <a:tcPr marL="91440" marR="91440"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accent2"/>
                          </a:solidFill>
                        </a:rPr>
                        <a:t>50 epochs, 10,051 crops, Apple GPU</a:t>
                      </a:r>
                      <a:endParaRPr lang="en-US" sz="1500" dirty="0"/>
                    </a:p>
                  </a:txBody>
                  <a:tcPr marL="91440" marR="91440" marT="54864" marB="54864">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4</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Training</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12 epochs on a 4-core CPU, then 50 epochs on the Apple M5 Pro GPU</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12-epoch runs on CPU</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Every model was still improving when training stopped</a:t>
            </a:r>
            <a:endParaRPr lang="en-US" sz="1800" dirty="0"/>
          </a:p>
        </p:txBody>
      </p:sp>
      <p:pic>
        <p:nvPicPr>
          <p:cNvPr id="5" name="Loss curves of 12-epoch runs" descr="Loss curves of 12-epoch runs">    </p:cNvPr>
          <p:cNvPicPr>
            <a:picLocks noChangeAspect="1"/>
          </p:cNvPicPr>
          <p:nvPr/>
        </p:nvPicPr>
        <p:blipFill>
          <a:blip r:embed="rId1"/>
          <a:stretch>
            <a:fillRect/>
          </a:stretch>
        </p:blipFill>
        <p:spPr>
          <a:xfrm>
            <a:off x="914400" y="1737360"/>
            <a:ext cx="10362895" cy="4686972"/>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50-epoch run on the Apple GPU</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Validation mAP50 rose from 0.21 at epoch 12 to 0.31 at epoch 45</a:t>
            </a:r>
            <a:endParaRPr lang="en-US" sz="1800" dirty="0"/>
          </a:p>
        </p:txBody>
      </p:sp>
      <p:graphicFrame>
        <p:nvGraphicFramePr>
          <p:cNvPr id="5" name="Chart 0" descr=""/>
          <p:cNvGraphicFramePr/>
          <p:nvPr/>
        </p:nvGraphicFramePr>
        <p:xfrm>
          <a:off x="548640" y="1737360"/>
          <a:ext cx="5364328"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78728" y="1737360"/>
          <a:ext cx="5364328" cy="43891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5</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Sky results</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Validation, a 6.6× larger test set, precision-recall curves and examples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Results hold on a 6.6× larger test set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Every model scores within 0.01 of its validation result</a:t>
            </a:r>
            <a:endParaRPr lang="en-US" sz="1800" dirty="0"/>
          </a:p>
        </p:txBody>
      </p:sp>
      <p:graphicFrame>
        <p:nvGraphicFramePr>
          <p:cNvPr id="5" name="Chart 0" descr=""/>
          <p:cNvGraphicFramePr/>
          <p:nvPr/>
        </p:nvGraphicFramePr>
        <p:xfrm>
          <a:off x="548640" y="1691640"/>
          <a:ext cx="11094415"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Average precision on AOT part 2</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Training longer on more data lifted it from 0.64 to 0.80</a:t>
            </a:r>
            <a:endParaRPr lang="en-US" sz="1800" dirty="0"/>
          </a:p>
        </p:txBody>
      </p:sp>
      <p:graphicFrame>
        <p:nvGraphicFramePr>
          <p:cNvPr id="5" name="Chart 0" descr=""/>
          <p:cNvGraphicFramePr/>
          <p:nvPr/>
        </p:nvGraphicFramePr>
        <p:xfrm>
          <a:off x="548640" y="1691640"/>
          <a:ext cx="7498080" cy="443484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412480" y="1737360"/>
            <a:ext cx="3230575" cy="1417320"/>
          </a:xfrm>
          <a:prstGeom prst="roundRect">
            <a:avLst>
              <a:gd name="adj" fmla="val 5161"/>
            </a:avLst>
          </a:prstGeom>
          <a:solidFill>
            <a:schemeClr val="bg2"/>
          </a:solidFill>
          <a:ln/>
        </p:spPr>
      </p:sp>
      <p:sp>
        <p:nvSpPr>
          <p:cNvPr id="7" name="Stat value"/>
          <p:cNvSpPr txBox="1"/>
          <p:nvPr/>
        </p:nvSpPr>
        <p:spPr>
          <a:xfrm>
            <a:off x="8641080" y="1920240"/>
            <a:ext cx="277337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85% / 77%</a:t>
            </a:r>
            <a:endParaRPr lang="en-US" sz="3400" dirty="0"/>
          </a:p>
        </p:txBody>
      </p:sp>
      <p:sp>
        <p:nvSpPr>
          <p:cNvPr id="8" name="Stat label"/>
          <p:cNvSpPr txBox="1"/>
          <p:nvPr/>
        </p:nvSpPr>
        <p:spPr>
          <a:xfrm>
            <a:off x="8641080" y="2852928"/>
            <a:ext cx="2773375" cy="137160"/>
          </a:xfrm>
          <a:prstGeom prst="rect">
            <a:avLst/>
          </a:prstGeom>
          <a:noFill/>
          <a:ln/>
        </p:spPr>
        <p:txBody>
          <a:bodyPr wrap="square" lIns="0" tIns="0" rIns="0" bIns="0" rtlCol="0" anchor="t"/>
          <a:lstStyle/>
          <a:p>
            <a:pPr indent="0" marL="0">
              <a:buNone/>
            </a:pPr>
            <a:r>
              <a:rPr lang="en-US" sz="1400" dirty="0">
                <a:solidFill>
                  <a:schemeClr val="tx1"/>
                </a:solidFill>
              </a:rPr>
              <a:t>precision / recall at best F1 (12 epochs: 75% / 57%)</a:t>
            </a:r>
            <a:endParaRPr lang="en-US" sz="1400" dirty="0"/>
          </a:p>
        </p:txBody>
      </p:sp>
      <p:sp>
        <p:nvSpPr>
          <p:cNvPr id="9" name="Stat card"/>
          <p:cNvSpPr/>
          <p:nvPr/>
        </p:nvSpPr>
        <p:spPr>
          <a:xfrm>
            <a:off x="8412480" y="3337560"/>
            <a:ext cx="3230575" cy="1417320"/>
          </a:xfrm>
          <a:prstGeom prst="roundRect">
            <a:avLst>
              <a:gd name="adj" fmla="val 5161"/>
            </a:avLst>
          </a:prstGeom>
          <a:solidFill>
            <a:schemeClr val="bg2"/>
          </a:solidFill>
          <a:ln/>
        </p:spPr>
      </p:sp>
      <p:sp>
        <p:nvSpPr>
          <p:cNvPr id="10" name="Stat value"/>
          <p:cNvSpPr txBox="1"/>
          <p:nvPr/>
        </p:nvSpPr>
        <p:spPr>
          <a:xfrm>
            <a:off x="8641080" y="3520440"/>
            <a:ext cx="277337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85%</a:t>
            </a:r>
            <a:endParaRPr lang="en-US" sz="3400" dirty="0"/>
          </a:p>
        </p:txBody>
      </p:sp>
      <p:sp>
        <p:nvSpPr>
          <p:cNvPr id="11" name="Stat label"/>
          <p:cNvSpPr txBox="1"/>
          <p:nvPr/>
        </p:nvSpPr>
        <p:spPr>
          <a:xfrm>
            <a:off x="8641080" y="4453128"/>
            <a:ext cx="2773375" cy="137160"/>
          </a:xfrm>
          <a:prstGeom prst="rect">
            <a:avLst/>
          </a:prstGeom>
          <a:noFill/>
          <a:ln/>
        </p:spPr>
        <p:txBody>
          <a:bodyPr wrap="square" lIns="0" tIns="0" rIns="0" bIns="0" rtlCol="0" anchor="t"/>
          <a:lstStyle/>
          <a:p>
            <a:pPr indent="0" marL="0">
              <a:buNone/>
            </a:pPr>
            <a:r>
              <a:rPr lang="en-US" sz="1400" dirty="0">
                <a:solidFill>
                  <a:schemeClr val="tx1"/>
                </a:solidFill>
              </a:rPr>
              <a:t>maximum recall at the lowest threshold (12 epochs: 80%)</a:t>
            </a:r>
            <a:endParaRPr lang="en-US" sz="1400" dirty="0"/>
          </a:p>
        </p:txBody>
      </p:sp>
      <p:sp>
        <p:nvSpPr>
          <p:cNvPr id="12" name="Stat card"/>
          <p:cNvSpPr/>
          <p:nvPr/>
        </p:nvSpPr>
        <p:spPr>
          <a:xfrm>
            <a:off x="8412480" y="4937760"/>
            <a:ext cx="3230575" cy="1188720"/>
          </a:xfrm>
          <a:prstGeom prst="roundRect">
            <a:avLst>
              <a:gd name="adj" fmla="val 6154"/>
            </a:avLst>
          </a:prstGeom>
          <a:solidFill>
            <a:schemeClr val="bg2"/>
          </a:solidFill>
          <a:ln/>
        </p:spPr>
      </p:sp>
      <p:sp>
        <p:nvSpPr>
          <p:cNvPr id="13" name="Stat value"/>
          <p:cNvSpPr txBox="1"/>
          <p:nvPr/>
        </p:nvSpPr>
        <p:spPr>
          <a:xfrm>
            <a:off x="8641080" y="5120640"/>
            <a:ext cx="2773375" cy="86868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354</a:t>
            </a:r>
            <a:endParaRPr lang="en-US" sz="3400" dirty="0"/>
          </a:p>
        </p:txBody>
      </p:sp>
      <p:sp>
        <p:nvSpPr>
          <p:cNvPr id="14" name="Stat label"/>
          <p:cNvSpPr txBox="1"/>
          <p:nvPr/>
        </p:nvSpPr>
        <p:spPr>
          <a:xfrm>
            <a:off x="8641080" y="6053328"/>
            <a:ext cx="2773375" cy="-91440"/>
          </a:xfrm>
          <a:prstGeom prst="rect">
            <a:avLst/>
          </a:prstGeom>
          <a:noFill/>
          <a:ln/>
        </p:spPr>
        <p:txBody>
          <a:bodyPr wrap="square" lIns="0" tIns="0" rIns="0" bIns="0" rtlCol="0" anchor="t"/>
          <a:lstStyle/>
          <a:p>
            <a:pPr indent="0" marL="0">
              <a:buNone/>
            </a:pPr>
            <a:r>
              <a:rPr lang="en-US" sz="1400" dirty="0">
                <a:solidFill>
                  <a:schemeClr val="tx1"/>
                </a:solidFill>
              </a:rPr>
              <a:t>test aircraft found by 50 epochs and missed by 12</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Precision against recall</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At 70% recall the 50-epoch model keeps 92% precision; the others are below 50%</a:t>
            </a:r>
            <a:endParaRPr lang="en-US" sz="1800" dirty="0"/>
          </a:p>
        </p:txBody>
      </p:sp>
      <p:graphicFrame>
        <p:nvGraphicFramePr>
          <p:cNvPr id="5" name="PR chart" descr=""/>
          <p:cNvGraphicFramePr/>
          <p:nvPr/>
        </p:nvGraphicFramePr>
        <p:xfrm>
          <a:off x="548640" y="1691640"/>
          <a:ext cx="11094415"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Where the gain came from</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Largest gains where the model was weakest: ground backgrounds and tiny aircraft</a:t>
            </a:r>
            <a:endParaRPr lang="en-US" sz="1800" dirty="0"/>
          </a:p>
        </p:txBody>
      </p:sp>
      <p:graphicFrame>
        <p:nvGraphicFramePr>
          <p:cNvPr id="5" name="Chart 0" descr=""/>
          <p:cNvGraphicFramePr/>
          <p:nvPr/>
        </p:nvGraphicFramePr>
        <p:xfrm>
          <a:off x="548640" y="1691640"/>
          <a:ext cx="11094415"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Data or epochs?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Part 1 alone reaches the same 0.805 as parts 1 + 3: the part 3 data added nothing measurable</a:t>
            </a:r>
            <a:endParaRPr lang="en-US" sz="1800" dirty="0"/>
          </a:p>
        </p:txBody>
      </p:sp>
      <p:graphicFrame>
        <p:nvGraphicFramePr>
          <p:cNvPr id="5" name="Chart 0" descr=""/>
          <p:cNvGraphicFramePr/>
          <p:nvPr/>
        </p:nvGraphicFramePr>
        <p:xfrm>
          <a:off x="548640" y="1691640"/>
          <a:ext cx="676656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7680960" y="1737360"/>
          <a:ext cx="3962095" cy="914400"/>
        </p:xfrm>
        <a:graphic>
          <a:graphicData uri="http://schemas.openxmlformats.org/drawingml/2006/table">
            <a:tbl>
              <a:tblPr/>
              <a:tblGrid>
                <a:gridCol w="2011680"/>
                <a:gridCol w="1097280"/>
                <a:gridCol w="853135"/>
              </a:tblGrid>
              <a:tr h="0">
                <a:tc>
                  <a:txBody>
                    <a:bodyPr/>
                    <a:lstStyle/>
                    <a:p>
                      <a:pPr indent="0" marL="0">
                        <a:buNone/>
                      </a:pPr>
                      <a:r>
                        <a:rPr lang="en-US" sz="1400" b="1" dirty="0">
                          <a:solidFill>
                            <a:schemeClr val="bg1"/>
                          </a:solidFill>
                        </a:rPr>
                        <a:t>Recall at best F1</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Part 1</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Parts 1 + 3</a:t>
                      </a:r>
                      <a:endParaRPr lang="en-US" sz="14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400" dirty="0">
                          <a:solidFill>
                            <a:schemeClr val="tx1"/>
                          </a:solidFill>
                        </a:rPr>
                        <a:t>Against sky</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86%</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87%</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dirty="0">
                          <a:solidFill>
                            <a:schemeClr val="tx1"/>
                          </a:solidFill>
                        </a:rPr>
                        <a:t>Against ground</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55%</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58%</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dirty="0">
                          <a:solidFill>
                            <a:schemeClr val="tx1"/>
                          </a:solidFill>
                        </a:rPr>
                        <a:t>Under 10 px</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55%</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55%</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dirty="0">
                          <a:solidFill>
                            <a:schemeClr val="tx1"/>
                          </a:solidFill>
                        </a:rPr>
                        <a:t>Precision / recall</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87% / 75%</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85% / 77%</a:t>
                      </a:r>
                      <a:endParaRPr lang="en-US" sz="14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Caption"/>
          <p:cNvSpPr txBox="1"/>
          <p:nvPr/>
        </p:nvSpPr>
        <p:spPr>
          <a:xfrm>
            <a:off x="7680960" y="4572000"/>
            <a:ext cx="3962095" cy="1097280"/>
          </a:xfrm>
          <a:prstGeom prst="rect">
            <a:avLst/>
          </a:prstGeom>
          <a:noFill/>
          <a:ln/>
        </p:spPr>
        <p:txBody>
          <a:bodyPr wrap="square" lIns="0" tIns="0" rIns="0" bIns="0" rtlCol="0" anchor="t"/>
          <a:lstStyle/>
          <a:p>
            <a:pPr algn="l" indent="0" marL="0">
              <a:buNone/>
            </a:pPr>
            <a:r>
              <a:rPr lang="en-US" sz="1200" dirty="0">
                <a:solidFill>
                  <a:srgbClr val="52514E"/>
                </a:solidFill>
              </a:rPr>
              <a:t>Equal epochs, so the two 50-epoch runs differ only in the part 3 data. The gain from 0.64 comes from 50 epochs and 3.8× more part 1 crops together.</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What the longer run finds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Aircraft the 12-epoch model missed: against ground, and 6 px against sky</a:t>
            </a:r>
            <a:endParaRPr lang="en-US" sz="1800" dirty="0"/>
          </a:p>
        </p:txBody>
      </p:sp>
      <p:pic>
        <p:nvPicPr>
          <p:cNvPr id="5" name="Before and after examples on AOT part 2" descr="Before and after examples on AOT part 2">    </p:cNvPr>
          <p:cNvPicPr>
            <a:picLocks noChangeAspect="1"/>
          </p:cNvPicPr>
          <p:nvPr/>
        </p:nvPicPr>
        <p:blipFill>
          <a:blip r:embed="rId1"/>
          <a:stretch>
            <a:fillRect/>
          </a:stretch>
        </p:blipFill>
        <p:spPr>
          <a:xfrm>
            <a:off x="1828800" y="1600200"/>
            <a:ext cx="8534095" cy="4551517"/>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Full frames and tracking</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On full frames the 50-epoch model still leads, but by far less than on crops</a:t>
            </a:r>
            <a:endParaRPr lang="en-US" sz="18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6766560" cy="914400"/>
        </p:xfrm>
        <a:graphic>
          <a:graphicData uri="http://schemas.openxmlformats.org/drawingml/2006/table">
            <a:tbl>
              <a:tblPr/>
              <a:tblGrid>
                <a:gridCol w="2377440"/>
                <a:gridCol w="960120"/>
                <a:gridCol w="1234440"/>
                <a:gridCol w="1005840"/>
                <a:gridCol w="1188720"/>
              </a:tblGrid>
              <a:tr h="0">
                <a:tc>
                  <a:txBody>
                    <a:bodyPr/>
                    <a:lstStyle/>
                    <a:p>
                      <a:pPr indent="0" marL="0">
                        <a:buNone/>
                      </a:pPr>
                      <a:r>
                        <a:rPr lang="en-US" sz="1300" b="1" dirty="0">
                          <a:solidFill>
                            <a:schemeClr val="bg1"/>
                          </a:solidFill>
                        </a:rPr>
                        <a:t>Model</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Full-frame AP</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Raw: found / precision</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False alarms per frame</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Offline: found / precision</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300" dirty="0">
                          <a:solidFill>
                            <a:schemeClr val="tx1"/>
                          </a:solidFill>
                        </a:rPr>
                        <a:t>yolo11n, 1 frame</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0.43</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47% / 47%</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0.54</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46% / 59%</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yolo11n, 3 frames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0.45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49% / 45%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0.59</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48% / 56%</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yolo11s, 3 frames, 12 epochs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0.34</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51% / 35%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0.97</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49% / 43%</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yolo11s, 3 frames, 50 epochs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0.50</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57% / 48%</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0.61</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54% / 65%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6" name="Chart 0" descr=""/>
          <p:cNvGraphicFramePr/>
          <p:nvPr/>
        </p:nvGraphicFramePr>
        <p:xfrm>
          <a:off x="7680960" y="1691640"/>
          <a:ext cx="3962095" cy="3108960"/>
        </p:xfrm>
        <a:graphic xmlns:a="http://schemas.openxmlformats.org/drawingml/2006/main">
          <a:graphicData uri="http://schemas.openxmlformats.org/drawingml/2006/chart">
            <c:chart xmlns:c="http://schemas.openxmlformats.org/drawingml/2006/chart" r:id="rId1"/>
          </a:graphicData>
        </a:graphic>
      </p:graphicFrame>
      <p:sp>
        <p:nvSpPr>
          <p:cNvPr id="7" name="Crops vs frames card"/>
          <p:cNvSpPr/>
          <p:nvPr/>
        </p:nvSpPr>
        <p:spPr>
          <a:xfrm>
            <a:off x="7680960" y="4983480"/>
            <a:ext cx="3962095" cy="1143000"/>
          </a:xfrm>
          <a:prstGeom prst="roundRect">
            <a:avLst>
              <a:gd name="adj" fmla="val 6400"/>
            </a:avLst>
          </a:prstGeom>
          <a:solidFill>
            <a:schemeClr val="bg2"/>
          </a:solidFill>
          <a:ln/>
        </p:spPr>
      </p:sp>
      <p:sp>
        <p:nvSpPr>
          <p:cNvPr id="8" name="Crops vs frames text"/>
          <p:cNvSpPr txBox="1"/>
          <p:nvPr/>
        </p:nvSpPr>
        <p:spPr>
          <a:xfrm>
            <a:off x="7863840" y="5029200"/>
            <a:ext cx="3596335" cy="1051560"/>
          </a:xfrm>
          <a:prstGeom prst="rect">
            <a:avLst/>
          </a:prstGeom>
          <a:noFill/>
          <a:ln/>
        </p:spPr>
        <p:txBody>
          <a:bodyPr wrap="square" lIns="0" tIns="0" rIns="0" bIns="0" rtlCol="0" anchor="ctr"/>
          <a:lstStyle/>
          <a:p>
            <a:pPr indent="0" marL="0">
              <a:buNone/>
            </a:pPr>
            <a:r>
              <a:rPr lang="en-US" sz="1400" b="1" dirty="0">
                <a:solidFill>
                  <a:schemeClr val="tx1"/>
                </a:solidFill>
              </a:rPr>
              <a:t>Crops overstate full frames: </a:t>
            </a:r>
            <a:pPr indent="0" marL="0">
              <a:buNone/>
            </a:pPr>
            <a:r>
              <a:rPr lang="en-US" sz="1400" dirty="0">
                <a:solidFill>
                  <a:schemeClr val="tx1"/>
                </a:solidFill>
              </a:rPr>
              <a:t>crop AP 0.80 vs 0.58; full-frame AP 0.50 vs 0.45. Train with more background-only crops next.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6</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Satellite results</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Synthetic scores overstate real performance, so we built a real test set of 927 aircraft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The synthetic gap</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Near-perfect on synthetic samples; far lower on real aircraft in flight</a:t>
            </a:r>
            <a:endParaRPr lang="en-US" sz="1800" dirty="0"/>
          </a:p>
        </p:txBody>
      </p:sp>
      <p:sp>
        <p:nvSpPr>
          <p:cNvPr id="5" name="Stat card"/>
          <p:cNvSpPr/>
          <p:nvPr/>
        </p:nvSpPr>
        <p:spPr>
          <a:xfrm>
            <a:off x="548640" y="1920240"/>
            <a:ext cx="3515258" cy="2377440"/>
          </a:xfrm>
          <a:prstGeom prst="roundRect">
            <a:avLst>
              <a:gd name="adj" fmla="val 3077"/>
            </a:avLst>
          </a:prstGeom>
          <a:solidFill>
            <a:schemeClr val="bg2"/>
          </a:solidFill>
          <a:ln/>
        </p:spPr>
      </p:sp>
      <p:sp>
        <p:nvSpPr>
          <p:cNvPr id="6" name="Stat value"/>
          <p:cNvSpPr txBox="1"/>
          <p:nvPr/>
        </p:nvSpPr>
        <p:spPr>
          <a:xfrm>
            <a:off x="777240" y="2103120"/>
            <a:ext cx="3058058"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0.999</a:t>
            </a:r>
            <a:endParaRPr lang="en-US" sz="4800" dirty="0"/>
          </a:p>
        </p:txBody>
      </p:sp>
      <p:sp>
        <p:nvSpPr>
          <p:cNvPr id="7" name="Stat label"/>
          <p:cNvSpPr txBox="1"/>
          <p:nvPr/>
        </p:nvSpPr>
        <p:spPr>
          <a:xfrm>
            <a:off x="777240" y="3035808"/>
            <a:ext cx="3058058" cy="1097280"/>
          </a:xfrm>
          <a:prstGeom prst="rect">
            <a:avLst/>
          </a:prstGeom>
          <a:noFill/>
          <a:ln/>
        </p:spPr>
        <p:txBody>
          <a:bodyPr wrap="square" lIns="0" tIns="0" rIns="0" bIns="0" rtlCol="0" anchor="t"/>
          <a:lstStyle/>
          <a:p>
            <a:pPr indent="0" marL="0">
              <a:buNone/>
            </a:pPr>
            <a:r>
              <a:rPr lang="en-US" sz="1400" dirty="0">
                <a:solidFill>
                  <a:schemeClr val="tx1"/>
                </a:solidFill>
              </a:rPr>
              <a:t>AUC on synthetic in-flight validation (98.8% accuracy)</a:t>
            </a:r>
            <a:endParaRPr lang="en-US" sz="1400" dirty="0"/>
          </a:p>
        </p:txBody>
      </p:sp>
      <p:sp>
        <p:nvSpPr>
          <p:cNvPr id="8" name="Stat card"/>
          <p:cNvSpPr/>
          <p:nvPr/>
        </p:nvSpPr>
        <p:spPr>
          <a:xfrm>
            <a:off x="4338218" y="1920240"/>
            <a:ext cx="3515258" cy="2377440"/>
          </a:xfrm>
          <a:prstGeom prst="roundRect">
            <a:avLst>
              <a:gd name="adj" fmla="val 3077"/>
            </a:avLst>
          </a:prstGeom>
          <a:solidFill>
            <a:schemeClr val="bg2"/>
          </a:solidFill>
          <a:ln/>
        </p:spPr>
      </p:sp>
      <p:sp>
        <p:nvSpPr>
          <p:cNvPr id="9" name="Stat value"/>
          <p:cNvSpPr txBox="1"/>
          <p:nvPr/>
        </p:nvSpPr>
        <p:spPr>
          <a:xfrm>
            <a:off x="4566818" y="2103120"/>
            <a:ext cx="3058058"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47%</a:t>
            </a:r>
            <a:endParaRPr lang="en-US" sz="4800" dirty="0"/>
          </a:p>
        </p:txBody>
      </p:sp>
      <p:sp>
        <p:nvSpPr>
          <p:cNvPr id="10" name="Stat label"/>
          <p:cNvSpPr txBox="1"/>
          <p:nvPr/>
        </p:nvSpPr>
        <p:spPr>
          <a:xfrm>
            <a:off x="4566818" y="3035808"/>
            <a:ext cx="3058058" cy="1097280"/>
          </a:xfrm>
          <a:prstGeom prst="rect">
            <a:avLst/>
          </a:prstGeom>
          <a:noFill/>
          <a:ln/>
        </p:spPr>
        <p:txBody>
          <a:bodyPr wrap="square" lIns="0" tIns="0" rIns="0" bIns="0" rtlCol="0" anchor="t"/>
          <a:lstStyle/>
          <a:p>
            <a:pPr indent="0" marL="0">
              <a:buNone/>
            </a:pPr>
            <a:r>
              <a:rPr lang="en-US" sz="1400" dirty="0">
                <a:solidFill>
                  <a:schemeClr val="tx1"/>
                </a:solidFill>
              </a:rPr>
              <a:t>of 19 real Sentinel-2 aircraft found at 0.5 (data/s2_airborne)</a:t>
            </a:r>
            <a:endParaRPr lang="en-US" sz="1400" dirty="0"/>
          </a:p>
        </p:txBody>
      </p:sp>
      <p:sp>
        <p:nvSpPr>
          <p:cNvPr id="11" name="Stat card"/>
          <p:cNvSpPr/>
          <p:nvPr/>
        </p:nvSpPr>
        <p:spPr>
          <a:xfrm>
            <a:off x="8127797" y="1920240"/>
            <a:ext cx="3515258" cy="2377440"/>
          </a:xfrm>
          <a:prstGeom prst="roundRect">
            <a:avLst>
              <a:gd name="adj" fmla="val 3077"/>
            </a:avLst>
          </a:prstGeom>
          <a:solidFill>
            <a:schemeClr val="bg2"/>
          </a:solidFill>
          <a:ln/>
        </p:spPr>
      </p:sp>
      <p:sp>
        <p:nvSpPr>
          <p:cNvPr id="12" name="Stat value"/>
          <p:cNvSpPr txBox="1"/>
          <p:nvPr/>
        </p:nvSpPr>
        <p:spPr>
          <a:xfrm>
            <a:off x="8356397" y="2103120"/>
            <a:ext cx="3058058"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71%</a:t>
            </a:r>
            <a:endParaRPr lang="en-US" sz="4800" dirty="0"/>
          </a:p>
        </p:txBody>
      </p:sp>
      <p:sp>
        <p:nvSpPr>
          <p:cNvPr id="13" name="Stat label"/>
          <p:cNvSpPr txBox="1"/>
          <p:nvPr/>
        </p:nvSpPr>
        <p:spPr>
          <a:xfrm>
            <a:off x="8356397" y="3035808"/>
            <a:ext cx="3058058" cy="1097280"/>
          </a:xfrm>
          <a:prstGeom prst="rect">
            <a:avLst/>
          </a:prstGeom>
          <a:noFill/>
          <a:ln/>
        </p:spPr>
        <p:txBody>
          <a:bodyPr wrap="square" lIns="0" tIns="0" rIns="0" bIns="0" rtlCol="0" anchor="t"/>
          <a:lstStyle/>
          <a:p>
            <a:pPr indent="0" marL="0">
              <a:buNone/>
            </a:pPr>
            <a:r>
              <a:rPr lang="en-US" sz="1400" dirty="0">
                <a:solidFill>
                  <a:schemeClr val="tx1"/>
                </a:solidFill>
              </a:rPr>
              <a:t>of 927 real Sentinel-2 aircraft found at 0.5 (data/s2_flying, new)</a:t>
            </a:r>
            <a:endParaRPr lang="en-US" sz="1400" dirty="0"/>
          </a:p>
        </p:txBody>
      </p:sp>
      <p:sp>
        <p:nvSpPr>
          <p:cNvPr id="14" name="Bullets"/>
          <p:cNvSpPr txBox="1"/>
          <p:nvPr/>
        </p:nvSpPr>
        <p:spPr>
          <a:xfrm>
            <a:off x="548640" y="4663440"/>
            <a:ext cx="11094415" cy="1188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Sentinel-2 is 10 m per pixel; PlanesNet is about 3 m, so a 6 px window is upsampled to the model's 20 px</a:t>
            </a:r>
            <a:endParaRPr lang="en-US" sz="1600" dirty="0"/>
          </a:p>
          <a:p>
            <a:pPr marL="342900" indent="-342900">
              <a:spcAft>
                <a:spcPts val="800"/>
              </a:spcAft>
              <a:buSzPct val="100000"/>
              <a:buChar char="•"/>
            </a:pPr>
            <a:r>
              <a:rPr lang="en-US" sz="1600" dirty="0">
                <a:solidFill>
                  <a:schemeClr val="tx1"/>
                </a:solidFill>
              </a:rPr>
              <a:t>Both real sets keep only aircraft with a clear three-colour signature, so recall on all aircraft is lower still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Published labels missed their aircraft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Converted to ground positions, they were off by a fixed offset per airport</a:t>
            </a:r>
            <a:endParaRPr lang="en-US" sz="1800" dirty="0"/>
          </a:p>
        </p:txBody>
      </p:sp>
      <p:pic>
        <p:nvPicPr>
          <p:cNvPr id="5" name="Converted labels beside their aircraft at CDG" descr="Converted labels beside their aircraft at CDG">    </p:cNvPr>
          <p:cNvPicPr>
            <a:picLocks noChangeAspect="1"/>
          </p:cNvPicPr>
          <p:nvPr/>
        </p:nvPicPr>
        <p:blipFill>
          <a:blip r:embed="rId1"/>
          <a:stretch>
            <a:fillRect/>
          </a:stretch>
        </p:blipFill>
        <p:spPr>
          <a:xfrm>
            <a:off x="548640" y="1691640"/>
            <a:ext cx="11094415" cy="3143784"/>
          </a:xfrm>
          <a:prstGeom prst="rect">
            <a:avLst/>
          </a:prstGeom>
        </p:spPr>
      </p:pic>
      <p:sp>
        <p:nvSpPr>
          <p:cNvPr id="6" name="Method step"/>
          <p:cNvSpPr/>
          <p:nvPr/>
        </p:nvSpPr>
        <p:spPr>
          <a:xfrm>
            <a:off x="548640" y="5064024"/>
            <a:ext cx="2567864" cy="1234440"/>
          </a:xfrm>
          <a:prstGeom prst="roundRect">
            <a:avLst>
              <a:gd name="adj" fmla="val 5926"/>
            </a:avLst>
          </a:prstGeom>
          <a:solidFill>
            <a:schemeClr val="bg2"/>
          </a:solidFill>
          <a:ln/>
        </p:spPr>
      </p:sp>
      <p:sp>
        <p:nvSpPr>
          <p:cNvPr id="7" name="Method text"/>
          <p:cNvSpPr txBox="1"/>
          <p:nvPr/>
        </p:nvSpPr>
        <p:spPr>
          <a:xfrm>
            <a:off x="713232" y="5128032"/>
            <a:ext cx="2238680" cy="1097280"/>
          </a:xfrm>
          <a:prstGeom prst="rect">
            <a:avLst/>
          </a:prstGeom>
          <a:noFill/>
          <a:ln/>
        </p:spPr>
        <p:txBody>
          <a:bodyPr wrap="square" lIns="0" tIns="0" rIns="0" bIns="0" rtlCol="0" anchor="t"/>
          <a:lstStyle/>
          <a:p>
            <a:pPr indent="0" marL="0">
              <a:buNone/>
            </a:pPr>
            <a:r>
              <a:rPr lang="en-US" sz="1500" b="1" dirty="0">
                <a:solidFill>
                  <a:schemeClr val="accent1"/>
                </a:solidFill>
              </a:rPr>
              <a:t>1  Search</a:t>
            </a:r>
            <a:endParaRPr lang="en-US" sz="1500" dirty="0"/>
          </a:p>
          <a:p>
            <a:pPr indent="0" marL="0">
              <a:buNone/>
            </a:pPr>
            <a:r>
              <a:rPr lang="en-US" sz="1300" dirty="0">
                <a:solidFill>
                  <a:schemeClr val="tx1"/>
                </a:solidFill>
              </a:rPr>
              <a:t>Find blue, green and red copies in a line near each label (150 px)</a:t>
            </a:r>
            <a:endParaRPr lang="en-US" sz="1500" dirty="0"/>
          </a:p>
        </p:txBody>
      </p:sp>
      <p:sp>
        <p:nvSpPr>
          <p:cNvPr id="8" name="Method step"/>
          <p:cNvSpPr/>
          <p:nvPr/>
        </p:nvSpPr>
        <p:spPr>
          <a:xfrm>
            <a:off x="3390824" y="5064024"/>
            <a:ext cx="2567864" cy="1234440"/>
          </a:xfrm>
          <a:prstGeom prst="roundRect">
            <a:avLst>
              <a:gd name="adj" fmla="val 5926"/>
            </a:avLst>
          </a:prstGeom>
          <a:solidFill>
            <a:schemeClr val="bg2"/>
          </a:solidFill>
          <a:ln/>
        </p:spPr>
      </p:sp>
      <p:sp>
        <p:nvSpPr>
          <p:cNvPr id="9" name="Method text"/>
          <p:cNvSpPr txBox="1"/>
          <p:nvPr/>
        </p:nvSpPr>
        <p:spPr>
          <a:xfrm>
            <a:off x="3555416" y="5128032"/>
            <a:ext cx="2238680" cy="1097280"/>
          </a:xfrm>
          <a:prstGeom prst="rect">
            <a:avLst/>
          </a:prstGeom>
          <a:noFill/>
          <a:ln/>
        </p:spPr>
        <p:txBody>
          <a:bodyPr wrap="square" lIns="0" tIns="0" rIns="0" bIns="0" rtlCol="0" anchor="t"/>
          <a:lstStyle/>
          <a:p>
            <a:pPr indent="0" marL="0">
              <a:buNone/>
            </a:pPr>
            <a:r>
              <a:rPr lang="en-US" sz="1500" b="1" dirty="0">
                <a:solidFill>
                  <a:schemeClr val="accent1"/>
                </a:solidFill>
              </a:rPr>
              <a:t>2  Vote</a:t>
            </a:r>
            <a:endParaRPr lang="en-US" sz="1500" dirty="0"/>
          </a:p>
          <a:p>
            <a:pPr indent="0" marL="0">
              <a:buNone/>
            </a:pPr>
            <a:r>
              <a:rPr lang="en-US" sz="1300" dirty="0">
                <a:solidFill>
                  <a:schemeClr val="tx1"/>
                </a:solidFill>
              </a:rPr>
              <a:t>Each image votes for the shift that puts two or more labels on a signature</a:t>
            </a:r>
            <a:endParaRPr lang="en-US" sz="1500" dirty="0"/>
          </a:p>
        </p:txBody>
      </p:sp>
      <p:sp>
        <p:nvSpPr>
          <p:cNvPr id="10" name="Method step"/>
          <p:cNvSpPr/>
          <p:nvPr/>
        </p:nvSpPr>
        <p:spPr>
          <a:xfrm>
            <a:off x="6233008" y="5064024"/>
            <a:ext cx="2567864" cy="1234440"/>
          </a:xfrm>
          <a:prstGeom prst="roundRect">
            <a:avLst>
              <a:gd name="adj" fmla="val 5926"/>
            </a:avLst>
          </a:prstGeom>
          <a:solidFill>
            <a:schemeClr val="bg2"/>
          </a:solidFill>
          <a:ln/>
        </p:spPr>
      </p:sp>
      <p:sp>
        <p:nvSpPr>
          <p:cNvPr id="11" name="Method text"/>
          <p:cNvSpPr txBox="1"/>
          <p:nvPr/>
        </p:nvSpPr>
        <p:spPr>
          <a:xfrm>
            <a:off x="6397600" y="5128032"/>
            <a:ext cx="2238680" cy="1097280"/>
          </a:xfrm>
          <a:prstGeom prst="rect">
            <a:avLst/>
          </a:prstGeom>
          <a:noFill/>
          <a:ln/>
        </p:spPr>
        <p:txBody>
          <a:bodyPr wrap="square" lIns="0" tIns="0" rIns="0" bIns="0" rtlCol="0" anchor="t"/>
          <a:lstStyle/>
          <a:p>
            <a:pPr indent="0" marL="0">
              <a:buNone/>
            </a:pPr>
            <a:r>
              <a:rPr lang="en-US" sz="1500" b="1" dirty="0">
                <a:solidFill>
                  <a:schemeClr val="accent1"/>
                </a:solidFill>
              </a:rPr>
              <a:t>3  Agree</a:t>
            </a:r>
            <a:endParaRPr lang="en-US" sz="1500" dirty="0"/>
          </a:p>
          <a:p>
            <a:pPr indent="0" marL="0">
              <a:buNone/>
            </a:pPr>
            <a:r>
              <a:rPr lang="en-US" sz="1300" dirty="0">
                <a:solidFill>
                  <a:schemeClr val="tx1"/>
                </a:solidFill>
              </a:rPr>
              <a:t>An airport's offset is the shift at least 60% of its images agree on</a:t>
            </a:r>
            <a:endParaRPr lang="en-US" sz="1500" dirty="0"/>
          </a:p>
        </p:txBody>
      </p:sp>
      <p:sp>
        <p:nvSpPr>
          <p:cNvPr id="12" name="Method step"/>
          <p:cNvSpPr/>
          <p:nvPr/>
        </p:nvSpPr>
        <p:spPr>
          <a:xfrm>
            <a:off x="9075191" y="5064024"/>
            <a:ext cx="2567864" cy="1234440"/>
          </a:xfrm>
          <a:prstGeom prst="roundRect">
            <a:avLst>
              <a:gd name="adj" fmla="val 5926"/>
            </a:avLst>
          </a:prstGeom>
          <a:solidFill>
            <a:schemeClr val="bg2"/>
          </a:solidFill>
          <a:ln/>
        </p:spPr>
      </p:sp>
      <p:sp>
        <p:nvSpPr>
          <p:cNvPr id="13" name="Method text"/>
          <p:cNvSpPr txBox="1"/>
          <p:nvPr/>
        </p:nvSpPr>
        <p:spPr>
          <a:xfrm>
            <a:off x="9239783" y="5128032"/>
            <a:ext cx="2238680" cy="1097280"/>
          </a:xfrm>
          <a:prstGeom prst="rect">
            <a:avLst/>
          </a:prstGeom>
          <a:noFill/>
          <a:ln/>
        </p:spPr>
        <p:txBody>
          <a:bodyPr wrap="square" lIns="0" tIns="0" rIns="0" bIns="0" rtlCol="0" anchor="t"/>
          <a:lstStyle/>
          <a:p>
            <a:pPr indent="0" marL="0">
              <a:buNone/>
            </a:pPr>
            <a:r>
              <a:rPr lang="en-US" sz="1500" b="1" dirty="0">
                <a:solidFill>
                  <a:schemeClr val="accent1"/>
                </a:solidFill>
              </a:rPr>
              <a:t>4  Keep</a:t>
            </a:r>
            <a:endParaRPr lang="en-US" sz="1500" dirty="0"/>
          </a:p>
          <a:p>
            <a:pPr indent="0" marL="0">
              <a:buNone/>
            </a:pPr>
            <a:r>
              <a:rPr lang="en-US" sz="1300" dirty="0">
                <a:solidFill>
                  <a:schemeClr val="tx1"/>
                </a:solidFill>
              </a:rPr>
              <a:t>Strong signatures at that offset only; duplicates across images removed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One offset per airport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10 of 15 airports agree on an offset of 110 m to 1.5 km; 927 aircraft kept</a:t>
            </a:r>
            <a:endParaRPr lang="en-US" sz="1800" dirty="0"/>
          </a:p>
        </p:txBody>
      </p:sp>
      <p:graphicFrame>
        <p:nvGraphicFramePr>
          <p:cNvPr id="5" name="Chart 0" descr=""/>
          <p:cNvGraphicFramePr/>
          <p:nvPr/>
        </p:nvGraphicFramePr>
        <p:xfrm>
          <a:off x="548640" y="1691640"/>
          <a:ext cx="640080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315200" y="1691640"/>
          <a:ext cx="4327855" cy="2926080"/>
        </p:xfrm>
        <a:graphic xmlns:a="http://schemas.openxmlformats.org/drawingml/2006/main">
          <a:graphicData uri="http://schemas.openxmlformats.org/drawingml/2006/chart">
            <c:chart xmlns:c="http://schemas.openxmlformats.org/drawingml/2006/chart" r:id="rId2"/>
          </a:graphicData>
        </a:graphic>
      </p:graphicFrame>
      <p:sp>
        <p:nvSpPr>
          <p:cNvPr id="7" name="Stat card"/>
          <p:cNvSpPr/>
          <p:nvPr/>
        </p:nvSpPr>
        <p:spPr>
          <a:xfrm>
            <a:off x="7315200" y="4800600"/>
            <a:ext cx="4327855" cy="1325880"/>
          </a:xfrm>
          <a:prstGeom prst="roundRect">
            <a:avLst>
              <a:gd name="adj" fmla="val 5517"/>
            </a:avLst>
          </a:prstGeom>
          <a:solidFill>
            <a:schemeClr val="bg2"/>
          </a:solidFill>
          <a:ln/>
        </p:spPr>
      </p:sp>
      <p:sp>
        <p:nvSpPr>
          <p:cNvPr id="8" name="Stat value"/>
          <p:cNvSpPr txBox="1"/>
          <p:nvPr/>
        </p:nvSpPr>
        <p:spPr>
          <a:xfrm>
            <a:off x="7543800" y="4983480"/>
            <a:ext cx="3870655" cy="868680"/>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72 of 80</a:t>
            </a:r>
            <a:endParaRPr lang="en-US" sz="3000" dirty="0"/>
          </a:p>
        </p:txBody>
      </p:sp>
      <p:sp>
        <p:nvSpPr>
          <p:cNvPr id="9" name="Stat label"/>
          <p:cNvSpPr txBox="1"/>
          <p:nvPr/>
        </p:nvSpPr>
        <p:spPr>
          <a:xfrm>
            <a:off x="7543800" y="5916168"/>
            <a:ext cx="3870655" cy="45720"/>
          </a:xfrm>
          <a:prstGeom prst="rect">
            <a:avLst/>
          </a:prstGeom>
          <a:noFill/>
          <a:ln/>
        </p:spPr>
        <p:txBody>
          <a:bodyPr wrap="square" lIns="0" tIns="0" rIns="0" bIns="0" rtlCol="0" anchor="t"/>
          <a:lstStyle/>
          <a:p>
            <a:pPr indent="0" marL="0">
              <a:buNone/>
            </a:pPr>
            <a:r>
              <a:rPr lang="en-US" sz="1400" dirty="0">
                <a:solidFill>
                  <a:schemeClr val="tx1"/>
                </a:solidFill>
              </a:rPr>
              <a:t>random chips of the final set show a clear aircraft (by eye)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The 927-aircraft test set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Aircraft over fields, towns and sea at 10 airports, plus 2,134 background chips</a:t>
            </a:r>
            <a:endParaRPr lang="en-US" sz="1800" dirty="0"/>
          </a:p>
        </p:txBody>
      </p:sp>
      <p:pic>
        <p:nvPicPr>
          <p:cNvPr id="5" name="Aircraft chips at ten airports" descr="Aircraft chips at ten airports">    </p:cNvPr>
          <p:cNvPicPr>
            <a:picLocks noChangeAspect="1"/>
          </p:cNvPicPr>
          <p:nvPr/>
        </p:nvPicPr>
        <p:blipFill>
          <a:blip r:embed="rId1"/>
          <a:stretch>
            <a:fillRect/>
          </a:stretch>
        </p:blipFill>
        <p:spPr>
          <a:xfrm>
            <a:off x="1371600" y="1600200"/>
            <a:ext cx="9448495" cy="3464795"/>
          </a:xfrm>
          <a:prstGeom prst="rect">
            <a:avLst/>
          </a:prstGeom>
        </p:spPr>
      </p:pic>
      <p:sp>
        <p:nvSpPr>
          <p:cNvPr id="6" name="Caption"/>
          <p:cNvSpPr txBox="1"/>
          <p:nvPr/>
        </p:nvSpPr>
        <p:spPr>
          <a:xfrm>
            <a:off x="1371600" y="5110715"/>
            <a:ext cx="9448495" cy="274320"/>
          </a:xfrm>
          <a:prstGeom prst="rect">
            <a:avLst/>
          </a:prstGeom>
          <a:noFill/>
          <a:ln/>
        </p:spPr>
        <p:txBody>
          <a:bodyPr wrap="square" lIns="0" tIns="0" rIns="0" bIns="0" rtlCol="0" anchor="t"/>
          <a:lstStyle/>
          <a:p>
            <a:pPr algn="l" indent="0" marL="0">
              <a:buNone/>
            </a:pPr>
            <a:r>
              <a:rPr lang="en-US" sz="1200" dirty="0">
                <a:solidFill>
                  <a:srgbClr val="52514E"/>
                </a:solidFill>
              </a:rPr>
              <a:t>Background chips: random points at least 1 km from any label</a:t>
            </a:r>
            <a:endParaRPr lang="en-US" sz="1200" dirty="0"/>
          </a:p>
        </p:txBody>
      </p:sp>
      <p:pic>
        <p:nvPicPr>
          <p:cNvPr id="7" name="Background chips" descr="Background chips">    </p:cNvPr>
          <p:cNvPicPr>
            <a:picLocks noChangeAspect="1"/>
          </p:cNvPicPr>
          <p:nvPr/>
        </p:nvPicPr>
        <p:blipFill>
          <a:blip r:embed="rId2"/>
          <a:stretch>
            <a:fillRect/>
          </a:stretch>
        </p:blipFill>
        <p:spPr>
          <a:xfrm>
            <a:off x="1371600" y="5385035"/>
            <a:ext cx="5858067" cy="1171613"/>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Satellite results on 927 aircraft</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71% found at 0.7% false alarms; realigning the bands no longer helps</a:t>
            </a:r>
            <a:endParaRPr lang="en-US" sz="1800" dirty="0"/>
          </a:p>
        </p:txBody>
      </p:sp>
      <p:graphicFrame>
        <p:nvGraphicFramePr>
          <p:cNvPr id="5" name="Chart 0" descr=""/>
          <p:cNvGraphicFramePr/>
          <p:nvPr/>
        </p:nvGraphicFramePr>
        <p:xfrm>
          <a:off x="548640" y="1691640"/>
          <a:ext cx="493776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852160" y="1691640"/>
          <a:ext cx="5790895" cy="44348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S2Net: a model for Sentinel-2</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Cross-validated by airport it finds 99% at 0.2% false alarms (PlaneNet: 71%, 0.7%)</a:t>
            </a:r>
            <a:endParaRPr lang="en-US" sz="1800" dirty="0"/>
          </a:p>
        </p:txBody>
      </p:sp>
      <p:sp>
        <p:nvSpPr>
          <p:cNvPr id="5" name="Bullets"/>
          <p:cNvSpPr txBox="1"/>
          <p:nvPr/>
        </p:nvSpPr>
        <p:spPr>
          <a:xfrm>
            <a:off x="548640" y="1828800"/>
            <a:ext cx="6035040" cy="40233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Window: </a:t>
            </a:r>
            <a:endParaRPr lang="en-US" sz="1600" dirty="0"/>
          </a:p>
          <a:p>
            <a:pPr indent="0" marL="0">
              <a:buNone/>
            </a:pPr>
            <a:r>
              <a:rPr lang="en-US" sz="1600" dirty="0">
                <a:solidFill>
                  <a:schemeClr val="tx1"/>
                </a:solidFill>
              </a:rPr>
              <a:t>48×48 px (480 m) holds all three copies; PlaneNet sees 60 m</a:t>
            </a:r>
            <a:endParaRPr lang="en-US" sz="1600" dirty="0"/>
          </a:p>
          <a:p>
            <a:pPr marL="342900" indent="-342900">
              <a:spcAft>
                <a:spcPts val="1200"/>
              </a:spcAft>
              <a:buSzPct val="100000"/>
              <a:buChar char="•"/>
            </a:pPr>
            <a:r>
              <a:rPr lang="en-US" sz="1600" b="1" dirty="0">
                <a:solidFill>
                  <a:schemeClr val="tx1"/>
                </a:solidFill>
              </a:rPr>
              <a:t>Network: </a:t>
            </a:r>
            <a:endParaRPr lang="en-US" sz="1600" dirty="0"/>
          </a:p>
          <a:p>
            <a:pPr indent="0" marL="0">
              <a:buNone/>
            </a:pPr>
            <a:r>
              <a:rPr lang="en-US" sz="1600" dirty="0">
                <a:solidFill>
                  <a:schemeClr val="tx1"/>
                </a:solidFill>
              </a:rPr>
              <a:t>three blocks of 3×3 convolutions with batch norm, 290k parameters</a:t>
            </a:r>
            <a:endParaRPr lang="en-US" sz="1600" dirty="0"/>
          </a:p>
          <a:p>
            <a:pPr marL="342900" indent="-342900">
              <a:spcAft>
                <a:spcPts val="1200"/>
              </a:spcAft>
              <a:buSzPct val="100000"/>
              <a:buChar char="•"/>
            </a:pPr>
            <a:r>
              <a:rPr lang="en-US" sz="1600" b="1" dirty="0">
                <a:solidFill>
                  <a:schemeClr val="tx1"/>
                </a:solidFill>
              </a:rPr>
              <a:t>Positives: </a:t>
            </a:r>
            <a:endParaRPr lang="en-US" sz="1600" dirty="0"/>
          </a:p>
          <a:p>
            <a:pPr indent="0" marL="0">
              <a:buNone/>
            </a:pPr>
            <a:r>
              <a:rPr lang="en-US" sz="1600" dirty="0">
                <a:solidFill>
                  <a:schemeClr val="tx1"/>
                </a:solidFill>
              </a:rPr>
              <a:t>927 real aircraft of data/s2_flying</a:t>
            </a:r>
            <a:endParaRPr lang="en-US" sz="1600" dirty="0"/>
          </a:p>
          <a:p>
            <a:pPr marL="342900" indent="-342900">
              <a:spcAft>
                <a:spcPts val="1200"/>
              </a:spcAft>
              <a:buSzPct val="100000"/>
              <a:buChar char="•"/>
            </a:pPr>
            <a:r>
              <a:rPr lang="en-US" sz="1600" b="1" dirty="0">
                <a:solidFill>
                  <a:schemeClr val="tx1"/>
                </a:solidFill>
              </a:rPr>
              <a:t>Negatives: </a:t>
            </a:r>
            <a:endParaRPr lang="en-US" sz="1600" dirty="0"/>
          </a:p>
          <a:p>
            <a:pPr indent="0" marL="0">
              <a:buNone/>
            </a:pPr>
            <a:r>
              <a:rPr lang="en-US" sz="1600" dirty="0">
                <a:solidFill>
                  <a:schemeClr val="tx1"/>
                </a:solidFill>
              </a:rPr>
              <a:t>background chips as cut, and re-centred on their strongest colour spot</a:t>
            </a:r>
            <a:endParaRPr lang="en-US" sz="1600" dirty="0"/>
          </a:p>
          <a:p>
            <a:pPr marL="342900" indent="-342900">
              <a:spcAft>
                <a:spcPts val="1200"/>
              </a:spcAft>
              <a:buSzPct val="100000"/>
              <a:buChar char="•"/>
            </a:pPr>
            <a:r>
              <a:rPr lang="en-US" sz="1600" b="1" dirty="0">
                <a:solidFill>
                  <a:schemeClr val="tx1"/>
                </a:solidFill>
              </a:rPr>
              <a:t>Augmentation: </a:t>
            </a:r>
            <a:pPr indent="0" marL="0">
              <a:buNone/>
            </a:pPr>
            <a:r>
              <a:rPr lang="en-US" sz="1600" dirty="0">
                <a:solidFill>
                  <a:schemeClr val="tx1"/>
                </a:solidFill>
              </a:rPr>
              <a:t>rotations, flips, 2 px shifts, brightness and contrast</a:t>
            </a:r>
            <a:endParaRPr lang="en-US" sz="1600" dirty="0"/>
          </a:p>
        </p:txBody>
      </p:sp>
      <p:sp>
        <p:nvSpPr>
          <p:cNvPr id="6" name="Stat card"/>
          <p:cNvSpPr/>
          <p:nvPr/>
        </p:nvSpPr>
        <p:spPr>
          <a:xfrm>
            <a:off x="6949440" y="1737360"/>
            <a:ext cx="4693615" cy="1371600"/>
          </a:xfrm>
          <a:prstGeom prst="roundRect">
            <a:avLst>
              <a:gd name="adj" fmla="val 5333"/>
            </a:avLst>
          </a:prstGeom>
          <a:solidFill>
            <a:schemeClr val="bg2"/>
          </a:solidFill>
          <a:ln/>
        </p:spPr>
      </p:sp>
      <p:sp>
        <p:nvSpPr>
          <p:cNvPr id="7" name="Stat value"/>
          <p:cNvSpPr txBox="1"/>
          <p:nvPr/>
        </p:nvSpPr>
        <p:spPr>
          <a:xfrm>
            <a:off x="7178040" y="1920240"/>
            <a:ext cx="4236415" cy="8686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99%</a:t>
            </a:r>
            <a:endParaRPr lang="en-US" sz="3600" dirty="0"/>
          </a:p>
        </p:txBody>
      </p:sp>
      <p:sp>
        <p:nvSpPr>
          <p:cNvPr id="8" name="Stat label"/>
          <p:cNvSpPr txBox="1"/>
          <p:nvPr/>
        </p:nvSpPr>
        <p:spPr>
          <a:xfrm>
            <a:off x="7178040" y="2852928"/>
            <a:ext cx="4236415" cy="91440"/>
          </a:xfrm>
          <a:prstGeom prst="rect">
            <a:avLst/>
          </a:prstGeom>
          <a:noFill/>
          <a:ln/>
        </p:spPr>
        <p:txBody>
          <a:bodyPr wrap="square" lIns="0" tIns="0" rIns="0" bIns="0" rtlCol="0" anchor="t"/>
          <a:lstStyle/>
          <a:p>
            <a:pPr indent="0" marL="0">
              <a:buNone/>
            </a:pPr>
            <a:r>
              <a:rPr lang="en-US" sz="1400" dirty="0">
                <a:solidFill>
                  <a:schemeClr val="tx1"/>
                </a:solidFill>
              </a:rPr>
              <a:t>of 927 aircraft found at 0.5, each scored by a model that never saw its airport</a:t>
            </a:r>
            <a:endParaRPr lang="en-US" sz="1400" dirty="0"/>
          </a:p>
        </p:txBody>
      </p:sp>
      <p:sp>
        <p:nvSpPr>
          <p:cNvPr id="9" name="Stat card"/>
          <p:cNvSpPr/>
          <p:nvPr/>
        </p:nvSpPr>
        <p:spPr>
          <a:xfrm>
            <a:off x="6949440" y="3291840"/>
            <a:ext cx="4693615" cy="1371600"/>
          </a:xfrm>
          <a:prstGeom prst="roundRect">
            <a:avLst>
              <a:gd name="adj" fmla="val 5333"/>
            </a:avLst>
          </a:prstGeom>
          <a:solidFill>
            <a:schemeClr val="bg2"/>
          </a:solidFill>
          <a:ln/>
        </p:spPr>
      </p:sp>
      <p:sp>
        <p:nvSpPr>
          <p:cNvPr id="10" name="Stat value"/>
          <p:cNvSpPr txBox="1"/>
          <p:nvPr/>
        </p:nvSpPr>
        <p:spPr>
          <a:xfrm>
            <a:off x="7178040" y="3474720"/>
            <a:ext cx="4236415" cy="8686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0.2%</a:t>
            </a:r>
            <a:endParaRPr lang="en-US" sz="3600" dirty="0"/>
          </a:p>
        </p:txBody>
      </p:sp>
      <p:sp>
        <p:nvSpPr>
          <p:cNvPr id="11" name="Stat label"/>
          <p:cNvSpPr txBox="1"/>
          <p:nvPr/>
        </p:nvSpPr>
        <p:spPr>
          <a:xfrm>
            <a:off x="7178040" y="4407408"/>
            <a:ext cx="4236415" cy="91440"/>
          </a:xfrm>
          <a:prstGeom prst="rect">
            <a:avLst/>
          </a:prstGeom>
          <a:noFill/>
          <a:ln/>
        </p:spPr>
        <p:txBody>
          <a:bodyPr wrap="square" lIns="0" tIns="0" rIns="0" bIns="0" rtlCol="0" anchor="t"/>
          <a:lstStyle/>
          <a:p>
            <a:pPr indent="0" marL="0">
              <a:buNone/>
            </a:pPr>
            <a:r>
              <a:rPr lang="en-US" sz="1400" dirty="0">
                <a:solidFill>
                  <a:schemeClr val="tx1"/>
                </a:solidFill>
              </a:rPr>
              <a:t>false alarms on 2,134 background chips (0.4% when centred on a colourful spot)</a:t>
            </a:r>
            <a:endParaRPr lang="en-US" sz="1400" dirty="0"/>
          </a:p>
        </p:txBody>
      </p:sp>
      <p:sp>
        <p:nvSpPr>
          <p:cNvPr id="12" name="Stat card"/>
          <p:cNvSpPr/>
          <p:nvPr/>
        </p:nvSpPr>
        <p:spPr>
          <a:xfrm>
            <a:off x="6949440" y="4846320"/>
            <a:ext cx="4693615" cy="1280160"/>
          </a:xfrm>
          <a:prstGeom prst="roundRect">
            <a:avLst>
              <a:gd name="adj" fmla="val 5714"/>
            </a:avLst>
          </a:prstGeom>
          <a:solidFill>
            <a:schemeClr val="bg2"/>
          </a:solidFill>
          <a:ln/>
        </p:spPr>
      </p:sp>
      <p:sp>
        <p:nvSpPr>
          <p:cNvPr id="13" name="Stat value"/>
          <p:cNvSpPr txBox="1"/>
          <p:nvPr/>
        </p:nvSpPr>
        <p:spPr>
          <a:xfrm>
            <a:off x="7178040" y="5029200"/>
            <a:ext cx="4236415" cy="8686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0.999</a:t>
            </a:r>
            <a:endParaRPr lang="en-US" sz="3600" dirty="0"/>
          </a:p>
        </p:txBody>
      </p:sp>
      <p:sp>
        <p:nvSpPr>
          <p:cNvPr id="14" name="Stat label"/>
          <p:cNvSpPr txBox="1"/>
          <p:nvPr/>
        </p:nvSpPr>
        <p:spPr>
          <a:xfrm>
            <a:off x="7178040" y="5961888"/>
            <a:ext cx="4236415" cy="0"/>
          </a:xfrm>
          <a:prstGeom prst="rect">
            <a:avLst/>
          </a:prstGeom>
          <a:noFill/>
          <a:ln/>
        </p:spPr>
        <p:txBody>
          <a:bodyPr wrap="square" lIns="0" tIns="0" rIns="0" bIns="0" rtlCol="0" anchor="t"/>
          <a:lstStyle/>
          <a:p>
            <a:pPr indent="0" marL="0">
              <a:buNone/>
            </a:pPr>
            <a:r>
              <a:rPr lang="en-US" sz="1400" dirty="0">
                <a:solidFill>
                  <a:schemeClr val="tx1"/>
                </a:solidFill>
              </a:rPr>
              <a:t>AUC against background (PlaneNet: 0.96)</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Independent test: S2Net finds 18 of 19</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On 2025 scenes from other airports it beats PlaneNet at every false-alarm level</a:t>
            </a:r>
            <a:endParaRPr lang="en-US" sz="1800" dirty="0"/>
          </a:p>
        </p:txBody>
      </p:sp>
      <p:graphicFrame>
        <p:nvGraphicFramePr>
          <p:cNvPr id="5" name="Chart 0" descr=""/>
          <p:cNvGraphicFramePr/>
          <p:nvPr/>
        </p:nvGraphicFramePr>
        <p:xfrm>
          <a:off x="548640" y="1691640"/>
          <a:ext cx="676656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7680960" y="1737360"/>
          <a:ext cx="3962095" cy="914400"/>
        </p:xfrm>
        <a:graphic>
          <a:graphicData uri="http://schemas.openxmlformats.org/drawingml/2006/table">
            <a:tbl>
              <a:tblPr/>
              <a:tblGrid>
                <a:gridCol w="2148840"/>
                <a:gridCol w="914400"/>
                <a:gridCol w="898855"/>
              </a:tblGrid>
              <a:tr h="0">
                <a:tc>
                  <a:txBody>
                    <a:bodyPr/>
                    <a:lstStyle/>
                    <a:p>
                      <a:pPr indent="0" marL="0">
                        <a:buNone/>
                      </a:pP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S2Net</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PlaneNet</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300" dirty="0">
                          <a:solidFill>
                            <a:schemeClr val="tx1"/>
                          </a:solidFill>
                        </a:rPr>
                        <a:t>Found at 0.5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95%</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47%</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AUC vs clutter</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0.99</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0.88</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AUC vs background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0.999</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0.988</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False alarms at 0.5, clutter</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11%</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8%</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False alarms at 0.5, background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1.2%</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0.8%</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badge"/>
          <p:cNvSpPr/>
          <p:nvPr/>
        </p:nvSpPr>
        <p:spPr>
          <a:xfrm>
            <a:off x="640080" y="2606040"/>
            <a:ext cx="1005840" cy="1005840"/>
          </a:xfrm>
          <a:prstGeom prst="ellipse">
            <a:avLst/>
          </a:prstGeom>
          <a:solidFill>
            <a:schemeClr val="accent2"/>
          </a:solidFill>
          <a:ln/>
        </p:spPr>
      </p:sp>
      <p:sp>
        <p:nvSpPr>
          <p:cNvPr id="3" name="Section number"/>
          <p:cNvSpPr txBox="1"/>
          <p:nvPr/>
        </p:nvSpPr>
        <p:spPr>
          <a:xfrm>
            <a:off x="640080" y="2606040"/>
            <a:ext cx="1005840" cy="1005840"/>
          </a:xfrm>
          <a:prstGeom prst="rect">
            <a:avLst/>
          </a:prstGeom>
          <a:noFill/>
          <a:ln/>
        </p:spPr>
        <p:txBody>
          <a:bodyPr wrap="square" lIns="0" tIns="0" rIns="0" bIns="0" rtlCol="0" anchor="ctr"/>
          <a:lstStyle/>
          <a:p>
            <a:pPr algn="ctr" indent="0" marL="0">
              <a:buNone/>
            </a:pPr>
            <a:r>
              <a:rPr lang="en-US" sz="3400" b="1" dirty="0">
                <a:solidFill>
                  <a:schemeClr val="bg1"/>
                </a:solidFill>
                <a:latin typeface="Cambria" pitchFamily="34" charset="0"/>
                <a:ea typeface="Cambria" pitchFamily="34" charset="-122"/>
                <a:cs typeface="Cambria" pitchFamily="34" charset="-120"/>
              </a:rPr>
              <a:t>7</a:t>
            </a:r>
            <a:endParaRPr lang="en-US" sz="3400" dirty="0"/>
          </a:p>
        </p:txBody>
      </p:sp>
      <p:sp>
        <p:nvSpPr>
          <p:cNvPr id="4" name="Text 0"/>
          <p:cNvSpPr/>
          <p:nvPr>
            <p:ph idx="100" type="title" hasCustomPrompt="1"/>
          </p:nvPr>
        </p:nvSpPr>
        <p:spPr>
          <a:xfrm>
            <a:off x="2011680" y="2514600"/>
            <a:ext cx="9418320" cy="914400"/>
          </a:xfrm>
          <a:prstGeom prst="rect">
            <a:avLst/>
          </a:prstGeom>
          <a:noFill/>
          <a:ln/>
        </p:spPr>
        <p:txBody>
          <a:bodyPr wrap="square" lIns="0" tIns="0" rIns="0" bIns="0" rtlCol="0" anchor="ctr"/>
          <a:lstStyle/>
          <a:p>
            <a:pPr indent="0" marL="0">
              <a:buNone/>
            </a:pPr>
            <a:r>
              <a:rPr lang="en-US" sz="4000" b="1" dirty="0">
                <a:solidFill>
                  <a:schemeClr val="bg1"/>
                </a:solidFill>
              </a:rPr>
              <a:t>Repository and next steps</a:t>
            </a:r>
            <a:endParaRPr lang="en-US" sz="4000" dirty="0"/>
          </a:p>
        </p:txBody>
      </p:sp>
      <p:sp>
        <p:nvSpPr>
          <p:cNvPr id="5" name="Text 0"/>
          <p:cNvSpPr/>
          <p:nvPr>
            <p:ph idx="101" type="body" hasCustomPrompt="1"/>
          </p:nvPr>
        </p:nvSpPr>
        <p:spPr>
          <a:xfrm>
            <a:off x="2011680" y="3474720"/>
            <a:ext cx="9418320" cy="1097280"/>
          </a:xfrm>
          <a:prstGeom prst="rect">
            <a:avLst/>
          </a:prstGeom>
          <a:noFill/>
          <a:ln/>
        </p:spPr>
        <p:txBody>
          <a:bodyPr wrap="square" lIns="0" tIns="0" rIns="0" bIns="0" rtlCol="0" anchor="t"/>
          <a:lstStyle/>
          <a:p>
            <a:pPr indent="0" marL="0">
              <a:buNone/>
            </a:pPr>
            <a:r>
              <a:rPr lang="en-US" sz="1800" dirty="0">
                <a:solidFill>
                  <a:schemeClr val="bg2"/>
                </a:solidFill>
              </a:rPr>
              <a:t>What was fixed, how to rerun everything, what is still open</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Problems found and fixed</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Three .gitignore rules had silently dropped files from the repo</a:t>
            </a:r>
            <a:endParaRPr lang="en-US" sz="18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840480"/>
                <a:gridCol w="3566160"/>
                <a:gridCol w="3685032"/>
              </a:tblGrid>
              <a:tr h="0">
                <a:tc>
                  <a:txBody>
                    <a:bodyPr/>
                    <a:lstStyle/>
                    <a:p>
                      <a:pPr indent="0" marL="0">
                        <a:buNone/>
                      </a:pPr>
                      <a:r>
                        <a:rPr lang="en-US" sz="1300" b="1" dirty="0">
                          <a:solidFill>
                            <a:schemeClr val="bg1"/>
                          </a:solidFill>
                        </a:rPr>
                        <a:t>Problem</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Effect</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Fix</a:t>
                      </a:r>
                      <a:endParaRPr lang="en-US" sz="13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indent="0" marL="0">
                        <a:buNone/>
                      </a:pPr>
                      <a:r>
                        <a:rPr lang="en-US" sz="1300" dirty="0">
                          <a:solidFill>
                            <a:schemeClr val="tx1"/>
                          </a:solidFill>
                        </a:rPr>
                        <a:t>.gitignore models/ matched any folder named models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sky/models/yolo11-p2.yaml never committed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Rule anchored to /models/; config rebuilt from the checkpoint</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.gitignore *_detections.png matched a figure</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Report figure missing</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Restored; report_figs/ re-included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.gitignore *.pt glued to the previous line</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Weights outside models/ not ignored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Rule on its own line</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AOT parts share flights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Training on part 3 would leak into the test set</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--exclude-flights; part 2 as test set</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Network resets during downloads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About a quarter of crops skipped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Retries with backoff (part 3: 0 failures)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Part 2 labels spell a bird "BIrd"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61 bird boxes dropped instead of ignored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Mapped to bird</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300" dirty="0">
                          <a:solidFill>
                            <a:schemeClr val="tx1"/>
                          </a:solidFill>
                        </a:rPr>
                        <a:t>Ultralytics 8.4 nests relative run folders</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Runs saved under runs/detect/runs/sky/</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Absolute project path</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300" dirty="0">
                          <a:solidFill>
                            <a:schemeClr val="tx1"/>
                          </a:solidFill>
                        </a:rPr>
                        <a:t>evaluate_clips still called the old fetch()</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Every clip download would crash</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Part passed through; regression test</a:t>
                      </a:r>
                      <a:endParaRPr lang="en-US" sz="1300" dirty="0"/>
                    </a:p>
                  </a:txBody>
                  <a:tcPr marL="91440" marR="91440" marT="54864" marB="54864"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Reproducing the work</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34 tests run in seconds on synthetic data; every number has a command</a:t>
            </a:r>
            <a:endParaRPr lang="en-US" sz="1800" dirty="0"/>
          </a:p>
        </p:txBody>
      </p:sp>
      <p:sp>
        <p:nvSpPr>
          <p:cNvPr id="5" name="Command card"/>
          <p:cNvSpPr/>
          <p:nvPr/>
        </p:nvSpPr>
        <p:spPr>
          <a:xfrm>
            <a:off x="548640" y="1737360"/>
            <a:ext cx="11094415" cy="3657600"/>
          </a:xfrm>
          <a:prstGeom prst="roundRect">
            <a:avLst>
              <a:gd name="adj" fmla="val 2000"/>
            </a:avLst>
          </a:prstGeom>
          <a:solidFill>
            <a:schemeClr val="bg2"/>
          </a:solidFill>
          <a:ln/>
        </p:spPr>
      </p:sp>
      <p:sp>
        <p:nvSpPr>
          <p:cNvPr id="6" name="Commands"/>
          <p:cNvSpPr txBox="1"/>
          <p:nvPr/>
        </p:nvSpPr>
        <p:spPr>
          <a:xfrm>
            <a:off x="822960" y="1920240"/>
            <a:ext cx="10545775" cy="3291840"/>
          </a:xfrm>
          <a:prstGeom prst="rect">
            <a:avLst/>
          </a:prstGeom>
          <a:noFill/>
          <a:ln/>
        </p:spPr>
        <p:txBody>
          <a:bodyPr wrap="square" lIns="0" tIns="0" rIns="0" bIns="0" rtlCol="0" anchor="t"/>
          <a:lstStyle/>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pytest -q</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sky.prepare_aot part2.csv data/aot_part2 --part part2 --train 0 --val 1500 --val-fraction 1</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sky.prepare_aot part3.csv data/aot_train_p3 --part part3 --train 9000 --val 0 --exclude-flights part2.csv</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sky.finetune data/aot_train/temporal.yaml --temporal --weights yolo11s.pt --epochs 50 --device mps</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sky.evaluate models/sky_yolo11s_3frame_e50.pt data/aot_part2/temporal --meta data/aot_part2/meta.json</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satellite.build_s2_flying data/s2_flying --chips-from-labels</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satellite.evaluate_s2 models/satellite_planenet.pt data/s2_flying</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satellite.train_s2 data/s2_flying --out models/s2net.pt --test data/s2_airborne</a:t>
            </a:r>
            <a:endParaRPr lang="en-US" sz="1200" dirty="0"/>
          </a:p>
          <a:p>
            <a:pPr indent="0" marL="0">
              <a:spcAft>
                <a:spcPts val="700"/>
              </a:spcAft>
              <a:buNone/>
            </a:pPr>
            <a:r>
              <a:rPr lang="en-US" sz="1200" dirty="0">
                <a:solidFill>
                  <a:schemeClr val="tx1"/>
                </a:solidFill>
                <a:latin typeface="Courier New" pitchFamily="34" charset="0"/>
                <a:ea typeface="Courier New" pitchFamily="34" charset="-122"/>
                <a:cs typeface="Courier New" pitchFamily="34" charset="-120"/>
              </a:rPr>
              <a:t>python -m sky.evaluate_clips part1.csv data/aot_clips --clips 8 --model s=models/sky_yolo11s_3frame_e50.pt:0.226:2</a:t>
            </a:r>
            <a:endParaRPr lang="en-US" sz="1200" dirty="0"/>
          </a:p>
        </p:txBody>
      </p:sp>
      <p:sp>
        <p:nvSpPr>
          <p:cNvPr id="7" name="Caption"/>
          <p:cNvSpPr txBox="1"/>
          <p:nvPr/>
        </p:nvSpPr>
        <p:spPr>
          <a:xfrm>
            <a:off x="548640" y="5623560"/>
            <a:ext cx="11094415" cy="365760"/>
          </a:xfrm>
          <a:prstGeom prst="rect">
            <a:avLst/>
          </a:prstGeom>
          <a:noFill/>
          <a:ln/>
        </p:spPr>
        <p:txBody>
          <a:bodyPr wrap="square" lIns="0" tIns="0" rIns="0" bIns="0" rtlCol="0" anchor="t"/>
          <a:lstStyle/>
          <a:p>
            <a:pPr algn="l" indent="0" marL="0">
              <a:buNone/>
            </a:pPr>
            <a:r>
              <a:rPr lang="en-US" sz="1200" dirty="0">
                <a:solidFill>
                  <a:srgbClr val="52514E"/>
                </a:solidFill>
              </a:rPr>
              <a:t>Full write-up: docs/report.md · agent guide: CLAUDE.md · dataset notes: data/s2_flying/README.md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tx1"/>
                </a:solidFill>
              </a:rPr>
              <a:t>Limitations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accent1"/>
                </a:solidFill>
              </a:rPr>
              <a:t>The numbers are real, but each has a known bias or gap</a:t>
            </a:r>
            <a:endParaRPr lang="en-US" sz="1800" dirty="0"/>
          </a:p>
        </p:txBody>
      </p:sp>
      <p:sp>
        <p:nvSpPr>
          <p:cNvPr id="5" name="Limitation badge"/>
          <p:cNvSpPr/>
          <p:nvPr/>
        </p:nvSpPr>
        <p:spPr>
          <a:xfrm>
            <a:off x="548640" y="1828800"/>
            <a:ext cx="502920" cy="502920"/>
          </a:xfrm>
          <a:prstGeom prst="ellipse">
            <a:avLst/>
          </a:prstGeom>
          <a:solidFill>
            <a:schemeClr val="accent4"/>
          </a:solidFill>
          <a:ln/>
        </p:spPr>
      </p:sp>
      <p:sp>
        <p:nvSpPr>
          <p:cNvPr id="6" name="Limitation mark"/>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7" name="Limitation text"/>
          <p:cNvSpPr txBox="1"/>
          <p:nvPr/>
        </p:nvSpPr>
        <p:spPr>
          <a:xfrm>
            <a:off x="1280160" y="1737360"/>
            <a:ext cx="10362895" cy="777240"/>
          </a:xfrm>
          <a:prstGeom prst="rect">
            <a:avLst/>
          </a:prstGeom>
          <a:noFill/>
          <a:ln/>
        </p:spPr>
        <p:txBody>
          <a:bodyPr wrap="square" lIns="0" tIns="0" rIns="0" bIns="0" rtlCol="0" anchor="ctr"/>
          <a:lstStyle/>
          <a:p>
            <a:pPr indent="0" marL="0">
              <a:buNone/>
            </a:pPr>
            <a:r>
              <a:rPr lang="en-US" sz="1700" b="1" dirty="0">
                <a:solidFill>
                  <a:schemeClr val="tx1"/>
                </a:solidFill>
              </a:rPr>
              <a:t>Crops overstate full frames</a:t>
            </a:r>
            <a:endParaRPr lang="en-US" sz="1700" dirty="0"/>
          </a:p>
          <a:p>
            <a:pPr indent="0" marL="0">
              <a:buNone/>
            </a:pPr>
            <a:r>
              <a:rPr lang="en-US" sz="1500" dirty="0">
                <a:solidFill>
                  <a:schemeClr val="tx1"/>
                </a:solidFill>
              </a:rPr>
              <a:t>Sky AP 0.80 on crops but 0.50 on full frames; 8 clips give wide error bars.</a:t>
            </a:r>
            <a:endParaRPr lang="en-US" sz="1700" dirty="0"/>
          </a:p>
        </p:txBody>
      </p:sp>
      <p:sp>
        <p:nvSpPr>
          <p:cNvPr id="8" name="Limitation badge"/>
          <p:cNvSpPr/>
          <p:nvPr/>
        </p:nvSpPr>
        <p:spPr>
          <a:xfrm>
            <a:off x="548640" y="2697480"/>
            <a:ext cx="502920" cy="502920"/>
          </a:xfrm>
          <a:prstGeom prst="ellipse">
            <a:avLst/>
          </a:prstGeom>
          <a:solidFill>
            <a:schemeClr val="accent4"/>
          </a:solidFill>
          <a:ln/>
        </p:spPr>
      </p:sp>
      <p:sp>
        <p:nvSpPr>
          <p:cNvPr id="9" name="Limitation mark"/>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0" name="Limitation text"/>
          <p:cNvSpPr txBox="1"/>
          <p:nvPr/>
        </p:nvSpPr>
        <p:spPr>
          <a:xfrm>
            <a:off x="1280160" y="2606040"/>
            <a:ext cx="10362895" cy="777240"/>
          </a:xfrm>
          <a:prstGeom prst="rect">
            <a:avLst/>
          </a:prstGeom>
          <a:noFill/>
          <a:ln/>
        </p:spPr>
        <p:txBody>
          <a:bodyPr wrap="square" lIns="0" tIns="0" rIns="0" bIns="0" rtlCol="0" anchor="ctr"/>
          <a:lstStyle/>
          <a:p>
            <a:pPr indent="0" marL="0">
              <a:buNone/>
            </a:pPr>
            <a:r>
              <a:rPr lang="en-US" sz="1700" b="1" dirty="0">
                <a:solidFill>
                  <a:schemeClr val="tx1"/>
                </a:solidFill>
              </a:rPr>
              <a:t>Epochs not isolated</a:t>
            </a:r>
            <a:endParaRPr lang="en-US" sz="1700" dirty="0"/>
          </a:p>
          <a:p>
            <a:pPr indent="0" marL="0">
              <a:buNone/>
            </a:pPr>
            <a:r>
              <a:rPr lang="en-US" sz="1500" dirty="0">
                <a:solidFill>
                  <a:schemeClr val="tx1"/>
                </a:solidFill>
              </a:rPr>
              <a:t>The part-1-only run separates part 3 data, not epochs (needs 50 epochs on 1,548 crops).</a:t>
            </a:r>
            <a:endParaRPr lang="en-US" sz="1700" dirty="0"/>
          </a:p>
        </p:txBody>
      </p:sp>
      <p:sp>
        <p:nvSpPr>
          <p:cNvPr id="11" name="Limitation badge"/>
          <p:cNvSpPr/>
          <p:nvPr/>
        </p:nvSpPr>
        <p:spPr>
          <a:xfrm>
            <a:off x="548640" y="3566160"/>
            <a:ext cx="502920" cy="502920"/>
          </a:xfrm>
          <a:prstGeom prst="ellipse">
            <a:avLst/>
          </a:prstGeom>
          <a:solidFill>
            <a:schemeClr val="accent4"/>
          </a:solidFill>
          <a:ln/>
        </p:spPr>
      </p:sp>
      <p:sp>
        <p:nvSpPr>
          <p:cNvPr id="12" name="Limitation mark"/>
          <p:cNvSpPr txBox="1"/>
          <p:nvPr/>
        </p:nvSpPr>
        <p:spPr>
          <a:xfrm>
            <a:off x="548640" y="356616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3" name="Limitation text"/>
          <p:cNvSpPr txBox="1"/>
          <p:nvPr/>
        </p:nvSpPr>
        <p:spPr>
          <a:xfrm>
            <a:off x="1280160" y="3474720"/>
            <a:ext cx="10362895" cy="777240"/>
          </a:xfrm>
          <a:prstGeom prst="rect">
            <a:avLst/>
          </a:prstGeom>
          <a:noFill/>
          <a:ln/>
        </p:spPr>
        <p:txBody>
          <a:bodyPr wrap="square" lIns="0" tIns="0" rIns="0" bIns="0" rtlCol="0" anchor="ctr"/>
          <a:lstStyle/>
          <a:p>
            <a:pPr indent="0" marL="0">
              <a:buNone/>
            </a:pPr>
            <a:r>
              <a:rPr lang="en-US" sz="1700" b="1" dirty="0">
                <a:solidFill>
                  <a:schemeClr val="tx1"/>
                </a:solidFill>
              </a:rPr>
              <a:t>Satellite sets lean on band-offset finders</a:t>
            </a:r>
            <a:endParaRPr lang="en-US" sz="1700" dirty="0"/>
          </a:p>
          <a:p>
            <a:pPr indent="0" marL="0">
              <a:buNone/>
            </a:pPr>
            <a:r>
              <a:rPr lang="en-US" sz="1500" dirty="0">
                <a:solidFill>
                  <a:schemeClr val="tx1"/>
                </a:solidFill>
              </a:rPr>
              <a:t>Both keep clear signatures; S2Net cross-validation is partly circular.</a:t>
            </a:r>
            <a:endParaRPr lang="en-US" sz="1700" dirty="0"/>
          </a:p>
        </p:txBody>
      </p:sp>
      <p:sp>
        <p:nvSpPr>
          <p:cNvPr id="14" name="Limitation badge"/>
          <p:cNvSpPr/>
          <p:nvPr/>
        </p:nvSpPr>
        <p:spPr>
          <a:xfrm>
            <a:off x="548640" y="4434840"/>
            <a:ext cx="502920" cy="502920"/>
          </a:xfrm>
          <a:prstGeom prst="ellipse">
            <a:avLst/>
          </a:prstGeom>
          <a:solidFill>
            <a:schemeClr val="accent4"/>
          </a:solidFill>
          <a:ln/>
        </p:spPr>
      </p:sp>
      <p:sp>
        <p:nvSpPr>
          <p:cNvPr id="15" name="Limitation mark"/>
          <p:cNvSpPr txBox="1"/>
          <p:nvPr/>
        </p:nvSpPr>
        <p:spPr>
          <a:xfrm>
            <a:off x="548640" y="443484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6" name="Limitation text"/>
          <p:cNvSpPr txBox="1"/>
          <p:nvPr/>
        </p:nvSpPr>
        <p:spPr>
          <a:xfrm>
            <a:off x="1280160" y="4343400"/>
            <a:ext cx="10362895" cy="777240"/>
          </a:xfrm>
          <a:prstGeom prst="rect">
            <a:avLst/>
          </a:prstGeom>
          <a:noFill/>
          <a:ln/>
        </p:spPr>
        <p:txBody>
          <a:bodyPr wrap="square" lIns="0" tIns="0" rIns="0" bIns="0" rtlCol="0" anchor="ctr"/>
          <a:lstStyle/>
          <a:p>
            <a:pPr indent="0" marL="0">
              <a:buNone/>
            </a:pPr>
            <a:r>
              <a:rPr lang="en-US" sz="1700" b="1" dirty="0">
                <a:solidFill>
                  <a:schemeClr val="tx1"/>
                </a:solidFill>
              </a:rPr>
              <a:t>Small independent satellite test</a:t>
            </a:r>
            <a:endParaRPr lang="en-US" sz="1700" dirty="0"/>
          </a:p>
          <a:p>
            <a:pPr indent="0" marL="0">
              <a:buNone/>
            </a:pPr>
            <a:r>
              <a:rPr lang="en-US" sz="1500" dirty="0">
                <a:solidFill>
                  <a:schemeClr val="tx1"/>
                </a:solidFill>
              </a:rPr>
              <a:t>19 aircraft in data/s2_airborne; labels of s2_flying about 90% clean.</a:t>
            </a:r>
            <a:endParaRPr lang="en-US" sz="1700" dirty="0"/>
          </a:p>
        </p:txBody>
      </p:sp>
      <p:sp>
        <p:nvSpPr>
          <p:cNvPr id="17" name="Limitation badge"/>
          <p:cNvSpPr/>
          <p:nvPr/>
        </p:nvSpPr>
        <p:spPr>
          <a:xfrm>
            <a:off x="548640" y="5303520"/>
            <a:ext cx="502920" cy="502920"/>
          </a:xfrm>
          <a:prstGeom prst="ellipse">
            <a:avLst/>
          </a:prstGeom>
          <a:solidFill>
            <a:schemeClr val="accent4"/>
          </a:solidFill>
          <a:ln/>
        </p:spPr>
      </p:sp>
      <p:sp>
        <p:nvSpPr>
          <p:cNvPr id="18" name="Limitation mark"/>
          <p:cNvSpPr txBox="1"/>
          <p:nvPr/>
        </p:nvSpPr>
        <p:spPr>
          <a:xfrm>
            <a:off x="548640" y="530352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9" name="Limitation text"/>
          <p:cNvSpPr txBox="1"/>
          <p:nvPr/>
        </p:nvSpPr>
        <p:spPr>
          <a:xfrm>
            <a:off x="1280160" y="5212080"/>
            <a:ext cx="10362895" cy="777240"/>
          </a:xfrm>
          <a:prstGeom prst="rect">
            <a:avLst/>
          </a:prstGeom>
          <a:noFill/>
          <a:ln/>
        </p:spPr>
        <p:txBody>
          <a:bodyPr wrap="square" lIns="0" tIns="0" rIns="0" bIns="0" rtlCol="0" anchor="ctr"/>
          <a:lstStyle/>
          <a:p>
            <a:pPr indent="0" marL="0">
              <a:buNone/>
            </a:pPr>
            <a:r>
              <a:rPr lang="en-US" sz="1700" b="1" dirty="0">
                <a:solidFill>
                  <a:schemeClr val="tx1"/>
                </a:solidFill>
              </a:rPr>
              <a:t>One training run per model</a:t>
            </a:r>
            <a:endParaRPr lang="en-US" sz="1700" dirty="0"/>
          </a:p>
          <a:p>
            <a:pPr indent="0" marL="0">
              <a:buNone/>
            </a:pPr>
            <a:r>
              <a:rPr lang="en-US" sz="1500" dirty="0">
                <a:solidFill>
                  <a:schemeClr val="tx1"/>
                </a:solidFill>
              </a:rPr>
              <a:t>Differences of a few points in a subgroup are within run-to-run noise.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lstStyle/>
          <a:p>
            <a:pPr indent="0" marL="0">
              <a:buNone/>
            </a:pPr>
            <a:r>
              <a:rPr lang="en-US" sz="3600" b="1" dirty="0">
                <a:solidFill>
                  <a:schemeClr val="bg1"/>
                </a:solidFill>
              </a:rPr>
              <a:t>Next steps</a:t>
            </a:r>
            <a:endParaRPr lang="en-US" sz="3600" dirty="0"/>
          </a:p>
        </p:txBody>
      </p:sp>
      <p:sp>
        <p:nvSpPr>
          <p:cNvPr id="3" name="Text 0"/>
          <p:cNvSpPr/>
          <p:nvPr>
            <p:ph idx="101" type="body" hasCustomPrompt="1"/>
          </p:nvPr>
        </p:nvSpPr>
        <p:spPr>
          <a:xfrm>
            <a:off x="548640" y="1024128"/>
            <a:ext cx="11094415" cy="502920"/>
          </a:xfrm>
          <a:prstGeom prst="rect">
            <a:avLst/>
          </a:prstGeom>
          <a:noFill/>
          <a:ln/>
        </p:spPr>
        <p:txBody>
          <a:bodyPr wrap="square" lIns="0" tIns="0" rIns="0" bIns="0" rtlCol="0" anchor="t"/>
          <a:lstStyle/>
          <a:p>
            <a:pPr indent="0" marL="0">
              <a:buNone/>
            </a:pPr>
            <a:r>
              <a:rPr lang="en-US" sz="1800" dirty="0">
                <a:solidFill>
                  <a:schemeClr val="bg2"/>
                </a:solidFill>
              </a:rPr>
              <a:t>In order of expected value</a:t>
            </a:r>
            <a:endParaRPr lang="en-US" sz="1800" dirty="0"/>
          </a:p>
        </p:txBody>
      </p:sp>
      <p:sp>
        <p:nvSpPr>
          <p:cNvPr id="4" name="Step badge"/>
          <p:cNvSpPr/>
          <p:nvPr/>
        </p:nvSpPr>
        <p:spPr>
          <a:xfrm>
            <a:off x="548640" y="1828800"/>
            <a:ext cx="548640" cy="548640"/>
          </a:xfrm>
          <a:prstGeom prst="ellipse">
            <a:avLst/>
          </a:prstGeom>
          <a:solidFill>
            <a:schemeClr val="accent2"/>
          </a:solidFill>
          <a:ln/>
        </p:spPr>
      </p:sp>
      <p:sp>
        <p:nvSpPr>
          <p:cNvPr id="5" name="Step number"/>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ep text"/>
          <p:cNvSpPr txBox="1"/>
          <p:nvPr/>
        </p:nvSpPr>
        <p:spPr>
          <a:xfrm>
            <a:off x="1325880" y="1737360"/>
            <a:ext cx="10317175" cy="777240"/>
          </a:xfrm>
          <a:prstGeom prst="rect">
            <a:avLst/>
          </a:prstGeom>
          <a:noFill/>
          <a:ln/>
        </p:spPr>
        <p:txBody>
          <a:bodyPr wrap="square" lIns="0" tIns="0" rIns="0" bIns="0" rtlCol="0" anchor="ctr"/>
          <a:lstStyle/>
          <a:p>
            <a:pPr indent="0" marL="0">
              <a:buNone/>
            </a:pPr>
            <a:r>
              <a:rPr lang="en-US" sz="1800" b="1" dirty="0">
                <a:solidFill>
                  <a:schemeClr val="bg1"/>
                </a:solidFill>
              </a:rPr>
              <a:t>Train the sky model for full frames</a:t>
            </a:r>
            <a:endParaRPr lang="en-US" sz="1800" dirty="0"/>
          </a:p>
          <a:p>
            <a:pPr indent="0" marL="0">
              <a:buNone/>
            </a:pPr>
            <a:r>
              <a:rPr lang="en-US" sz="1500" dirty="0">
                <a:solidFill>
                  <a:schemeClr val="bg2"/>
                </a:solidFill>
              </a:rPr>
              <a:t>Add background-only and hard-negative crops mined from full frames; rescore clips</a:t>
            </a:r>
            <a:endParaRPr lang="en-US" sz="1800" dirty="0"/>
          </a:p>
        </p:txBody>
      </p:sp>
      <p:sp>
        <p:nvSpPr>
          <p:cNvPr id="7" name="Step badge"/>
          <p:cNvSpPr/>
          <p:nvPr/>
        </p:nvSpPr>
        <p:spPr>
          <a:xfrm>
            <a:off x="548640" y="2697480"/>
            <a:ext cx="548640" cy="548640"/>
          </a:xfrm>
          <a:prstGeom prst="ellipse">
            <a:avLst/>
          </a:prstGeom>
          <a:solidFill>
            <a:schemeClr val="accent2"/>
          </a:solidFill>
          <a:ln/>
        </p:spPr>
      </p:sp>
      <p:sp>
        <p:nvSpPr>
          <p:cNvPr id="8" name="Step number"/>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Step text"/>
          <p:cNvSpPr txBox="1"/>
          <p:nvPr/>
        </p:nvSpPr>
        <p:spPr>
          <a:xfrm>
            <a:off x="1325880" y="2606040"/>
            <a:ext cx="10317175" cy="777240"/>
          </a:xfrm>
          <a:prstGeom prst="rect">
            <a:avLst/>
          </a:prstGeom>
          <a:noFill/>
          <a:ln/>
        </p:spPr>
        <p:txBody>
          <a:bodyPr wrap="square" lIns="0" tIns="0" rIns="0" bIns="0" rtlCol="0" anchor="ctr"/>
          <a:lstStyle/>
          <a:p>
            <a:pPr indent="0" marL="0">
              <a:buNone/>
            </a:pPr>
            <a:r>
              <a:rPr lang="en-US" sz="1800" b="1" dirty="0">
                <a:solidFill>
                  <a:schemeClr val="bg1"/>
                </a:solidFill>
              </a:rPr>
              <a:t>Isolate epochs</a:t>
            </a:r>
            <a:endParaRPr lang="en-US" sz="1800" dirty="0"/>
          </a:p>
          <a:p>
            <a:pPr indent="0" marL="0">
              <a:buNone/>
            </a:pPr>
            <a:r>
              <a:rPr lang="en-US" sz="1500" dirty="0">
                <a:solidFill>
                  <a:schemeClr val="bg2"/>
                </a:solidFill>
              </a:rPr>
              <a:t>Train 50 epochs on 1,548 part 1 crops and compare with the 12-epoch run</a:t>
            </a:r>
            <a:endParaRPr lang="en-US" sz="1800" dirty="0"/>
          </a:p>
        </p:txBody>
      </p:sp>
      <p:sp>
        <p:nvSpPr>
          <p:cNvPr id="10" name="Step badge"/>
          <p:cNvSpPr/>
          <p:nvPr/>
        </p:nvSpPr>
        <p:spPr>
          <a:xfrm>
            <a:off x="548640" y="3566160"/>
            <a:ext cx="548640" cy="548640"/>
          </a:xfrm>
          <a:prstGeom prst="ellipse">
            <a:avLst/>
          </a:prstGeom>
          <a:solidFill>
            <a:schemeClr val="accent2"/>
          </a:solidFill>
          <a:ln/>
        </p:spPr>
      </p:sp>
      <p:sp>
        <p:nvSpPr>
          <p:cNvPr id="11" name="Step number"/>
          <p:cNvSpPr txBox="1"/>
          <p:nvPr/>
        </p:nvSpPr>
        <p:spPr>
          <a:xfrm>
            <a:off x="548640" y="35661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Step text"/>
          <p:cNvSpPr txBox="1"/>
          <p:nvPr/>
        </p:nvSpPr>
        <p:spPr>
          <a:xfrm>
            <a:off x="1325880" y="3474720"/>
            <a:ext cx="10317175" cy="777240"/>
          </a:xfrm>
          <a:prstGeom prst="rect">
            <a:avLst/>
          </a:prstGeom>
          <a:noFill/>
          <a:ln/>
        </p:spPr>
        <p:txBody>
          <a:bodyPr wrap="square" lIns="0" tIns="0" rIns="0" bIns="0" rtlCol="0" anchor="ctr"/>
          <a:lstStyle/>
          <a:p>
            <a:pPr indent="0" marL="0">
              <a:buNone/>
            </a:pPr>
            <a:r>
              <a:rPr lang="en-US" sz="1800" b="1" dirty="0">
                <a:solidFill>
                  <a:schemeClr val="bg1"/>
                </a:solidFill>
              </a:rPr>
              <a:t>Test S2Net without a finder</a:t>
            </a:r>
            <a:endParaRPr lang="en-US" sz="1800" dirty="0"/>
          </a:p>
          <a:p>
            <a:pPr indent="0" marL="0">
              <a:buNone/>
            </a:pPr>
            <a:r>
              <a:rPr lang="en-US" sz="1500" dirty="0">
                <a:solidFill>
                  <a:schemeClr val="bg2"/>
                </a:solidFill>
              </a:rPr>
              <a:t>Sentinel-2 aircraft located from ADS-B tracks, so faint ones are included</a:t>
            </a:r>
            <a:endParaRPr lang="en-US" sz="1800" dirty="0"/>
          </a:p>
        </p:txBody>
      </p:sp>
      <p:sp>
        <p:nvSpPr>
          <p:cNvPr id="13" name="Step badge"/>
          <p:cNvSpPr/>
          <p:nvPr/>
        </p:nvSpPr>
        <p:spPr>
          <a:xfrm>
            <a:off x="548640" y="4434840"/>
            <a:ext cx="548640" cy="548640"/>
          </a:xfrm>
          <a:prstGeom prst="ellipse">
            <a:avLst/>
          </a:prstGeom>
          <a:solidFill>
            <a:schemeClr val="accent2"/>
          </a:solidFill>
          <a:ln/>
        </p:spPr>
      </p:sp>
      <p:sp>
        <p:nvSpPr>
          <p:cNvPr id="14" name="Step number"/>
          <p:cNvSpPr txBox="1"/>
          <p:nvPr/>
        </p:nvSpPr>
        <p:spPr>
          <a:xfrm>
            <a:off x="548640" y="4434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Step text"/>
          <p:cNvSpPr txBox="1"/>
          <p:nvPr/>
        </p:nvSpPr>
        <p:spPr>
          <a:xfrm>
            <a:off x="1325880" y="4343400"/>
            <a:ext cx="10317175" cy="777240"/>
          </a:xfrm>
          <a:prstGeom prst="rect">
            <a:avLst/>
          </a:prstGeom>
          <a:noFill/>
          <a:ln/>
        </p:spPr>
        <p:txBody>
          <a:bodyPr wrap="square" lIns="0" tIns="0" rIns="0" bIns="0" rtlCol="0" anchor="ctr"/>
          <a:lstStyle/>
          <a:p>
            <a:pPr indent="0" marL="0">
              <a:buNone/>
            </a:pPr>
            <a:r>
              <a:rPr lang="en-US" sz="1800" b="1" dirty="0">
                <a:solidFill>
                  <a:schemeClr val="bg1"/>
                </a:solidFill>
              </a:rPr>
              <a:t>Harder S2Net negatives</a:t>
            </a:r>
            <a:endParaRPr lang="en-US" sz="1800" dirty="0"/>
          </a:p>
          <a:p>
            <a:pPr indent="0" marL="0">
              <a:buNone/>
            </a:pPr>
            <a:r>
              <a:rPr lang="en-US" sz="1500" dirty="0">
                <a:solidFill>
                  <a:schemeClr val="bg2"/>
                </a:solidFill>
              </a:rPr>
              <a:t>Use finder false positives (cars, roofs, lights) as training negatives</a:t>
            </a:r>
            <a:endParaRPr lang="en-US" sz="1800" dirty="0"/>
          </a:p>
        </p:txBody>
      </p:sp>
      <p:sp>
        <p:nvSpPr>
          <p:cNvPr id="16" name="Step badge"/>
          <p:cNvSpPr/>
          <p:nvPr/>
        </p:nvSpPr>
        <p:spPr>
          <a:xfrm>
            <a:off x="548640" y="5303520"/>
            <a:ext cx="548640" cy="548640"/>
          </a:xfrm>
          <a:prstGeom prst="ellipse">
            <a:avLst/>
          </a:prstGeom>
          <a:solidFill>
            <a:schemeClr val="accent2"/>
          </a:solidFill>
          <a:ln/>
        </p:spPr>
      </p:sp>
      <p:sp>
        <p:nvSpPr>
          <p:cNvPr id="17" name="Step number"/>
          <p:cNvSpPr txBox="1"/>
          <p:nvPr/>
        </p:nvSpPr>
        <p:spPr>
          <a:xfrm>
            <a:off x="548640" y="5303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8" name="Step text"/>
          <p:cNvSpPr txBox="1"/>
          <p:nvPr/>
        </p:nvSpPr>
        <p:spPr>
          <a:xfrm>
            <a:off x="1325880" y="5212080"/>
            <a:ext cx="10317175" cy="777240"/>
          </a:xfrm>
          <a:prstGeom prst="rect">
            <a:avLst/>
          </a:prstGeom>
          <a:noFill/>
          <a:ln/>
        </p:spPr>
        <p:txBody>
          <a:bodyPr wrap="square" lIns="0" tIns="0" rIns="0" bIns="0" rtlCol="0" anchor="ctr"/>
          <a:lstStyle/>
          <a:p>
            <a:pPr indent="0" marL="0">
              <a:buNone/>
            </a:pPr>
            <a:r>
              <a:rPr lang="en-US" sz="1800" b="1" dirty="0">
                <a:solidFill>
                  <a:schemeClr val="bg1"/>
                </a:solidFill>
              </a:rPr>
              <a:t>Merge</a:t>
            </a:r>
            <a:endParaRPr lang="en-US" sz="1800" dirty="0"/>
          </a:p>
          <a:p>
            <a:pPr indent="0" marL="0">
              <a:buNone/>
            </a:pPr>
            <a:r>
              <a:rPr lang="en-US" sz="1500" dirty="0">
                <a:solidFill>
                  <a:schemeClr val="bg2"/>
                </a:solidFill>
              </a:rPr>
              <a:t>Merge PR #1 and the validation-sets PR; keep the 93 MB PlanesNet zip out of master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EA"/>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Night Flight">
  <a:themeElements>
    <a:clrScheme name="Night Flight">
      <a:dk1>
        <a:srgbClr val="1F2A3D"/>
      </a:dk1>
      <a:lt1>
        <a:srgbClr val="FFFFFF"/>
      </a:lt1>
      <a:dk2>
        <a:srgbClr val="0E1A2F"/>
      </a:dk2>
      <a:lt2>
        <a:srgbClr val="EEF2F7"/>
      </a:lt2>
      <a:accent1>
        <a:srgbClr val="2A78D6"/>
      </a:accent1>
      <a:accent2>
        <a:srgbClr val="EB6834"/>
      </a:accent2>
      <a:accent3>
        <a:srgbClr val="1BAF7A"/>
      </a:accent3>
      <a:accent4>
        <a:srgbClr val="EDA100"/>
      </a:accent4>
      <a:accent5>
        <a:srgbClr val="E87BA4"/>
      </a:accent5>
      <a:accent6>
        <a:srgbClr val="4A3AA7"/>
      </a:accent6>
      <a:hlink>
        <a:srgbClr val="2A78D6"/>
      </a:hlink>
      <a:folHlink>
        <a:srgbClr val="4A3AA7"/>
      </a:folHlink>
    </a:clrScheme>
    <a:fontScheme name="Night F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aircraft in flight</dc:title>
  <dc:subject>PptxGenJS Presentation</dc:subject>
  <dc:creator>Rohan Shenoy</dc:creator>
  <cp:lastModifiedBy>Rohan Shenoy</cp:lastModifiedBy>
  <cp:revision>1</cp:revision>
  <dcterms:created xsi:type="dcterms:W3CDTF">2026-10-12T22:23:14Z</dcterms:created>
  <dcterms:modified xsi:type="dcterms:W3CDTF">2026-10-12T22:23:14Z</dcterms:modified>
</cp:coreProperties>
</file>